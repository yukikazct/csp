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61" r:id="rId6"/>
    <p:sldId id="262" r:id="rId7"/>
    <p:sldId id="287" r:id="rId8"/>
    <p:sldId id="289" r:id="rId9"/>
    <p:sldId id="264" r:id="rId10"/>
    <p:sldId id="266" r:id="rId11"/>
    <p:sldId id="288" r:id="rId12"/>
    <p:sldId id="290" r:id="rId13"/>
    <p:sldId id="291" r:id="rId14"/>
    <p:sldId id="267" r:id="rId15"/>
    <p:sldId id="268" r:id="rId16"/>
    <p:sldId id="292" r:id="rId17"/>
    <p:sldId id="269" r:id="rId18"/>
    <p:sldId id="295" r:id="rId19"/>
    <p:sldId id="271" r:id="rId20"/>
    <p:sldId id="293" r:id="rId21"/>
    <p:sldId id="294" r:id="rId22"/>
    <p:sldId id="273" r:id="rId23"/>
    <p:sldId id="296" r:id="rId24"/>
    <p:sldId id="297" r:id="rId25"/>
    <p:sldId id="275" r:id="rId26"/>
    <p:sldId id="278" r:id="rId27"/>
    <p:sldId id="280" r:id="rId28"/>
    <p:sldId id="298" r:id="rId29"/>
    <p:sldId id="299" r:id="rId30"/>
    <p:sldId id="300" r:id="rId31"/>
    <p:sldId id="284" r:id="rId32"/>
    <p:sldId id="285" r:id="rId33"/>
    <p:sldId id="301" r:id="rId34"/>
    <p:sldId id="286" r:id="rId35"/>
    <p:sldId id="302" r:id="rId3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11" autoAdjust="0"/>
  </p:normalViewPr>
  <p:slideViewPr>
    <p:cSldViewPr snapToGrid="0">
      <p:cViewPr>
        <p:scale>
          <a:sx n="200" d="100"/>
          <a:sy n="200" d="100"/>
        </p:scale>
        <p:origin x="2946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 GSB students still left?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9fd9a61ab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9fd9a61ab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9fd9a61ab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9fd9a61ab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9fd9a61a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9fd9a61a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9fd9a61a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9fd9a61a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fd9a61a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fd9a61a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 dirty="0">
                <a:solidFill>
                  <a:srgbClr val="595959"/>
                </a:solidFill>
              </a:rPr>
              <a:t>Zero-shot CoT</a:t>
            </a: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fd9a61a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fd9a61a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9fd9a61a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9fd9a61ab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9fd9a61a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9fd9a61a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fd9a61ab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fd9a61ab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When you @context in Cursor/Windsurf/etc this is utilizing RAG.</a:t>
            </a: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fd9a61a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9fd9a61a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9fd9a61ab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9fd9a61ab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27d98ef8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27d98ef8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27d98e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27d98e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27d98ef8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27d98ef8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7d98ef8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27d98ef8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50" dirty="0">
              <a:solidFill>
                <a:srgbClr val="595959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27d98ef8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27d98ef8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thropic.com/en/docs/build-with-claude/prompt-engineering/prompt-improve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z1019117968/ai_coding_experiments/tree/main/prompt_engineerin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F21BF8B6-9045-1A3F-8B45-17A0BCDD1A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杨振 助理教授</a:t>
            </a:r>
            <a:endParaRPr lang="en-US" altLang="zh-CN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E</a:t>
            </a:r>
            <a:r>
              <a:rPr lang="en-US" altLang="zh-CN" b="1" dirty="0"/>
              <a:t>mail:</a:t>
            </a:r>
            <a:r>
              <a:rPr lang="zh-CN" altLang="en-US" b="1" dirty="0"/>
              <a:t> </a:t>
            </a:r>
            <a:r>
              <a:rPr lang="en-US" altLang="zh-CN" b="1" dirty="0"/>
              <a:t>zhenyang@sdu.edu.cn</a:t>
            </a:r>
            <a:endParaRPr b="1" dirty="0"/>
          </a:p>
        </p:txBody>
      </p:sp>
      <p:sp>
        <p:nvSpPr>
          <p:cNvPr id="5" name="Google Shape;60;p14">
            <a:extLst>
              <a:ext uri="{FF2B5EF4-FFF2-40B4-BE49-F238E27FC236}">
                <a16:creationId xmlns:a16="http://schemas.microsoft.com/office/drawing/2014/main" id="{6FE5A555-11C4-DF20-B8F8-1443090124D3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Vibe Coding Principle and Practice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Power Prompting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Prompting background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sz="1400" dirty="0"/>
              <a:t>大型语言模型本质上是一个黑箱，而提示就是我们与它沟通的唯一接口。就像我们使用自然语言与人交流一样，提示也是我们向</a:t>
            </a:r>
            <a:r>
              <a:rPr lang="en-US" altLang="zh-CN" sz="1400" dirty="0"/>
              <a:t>LLM</a:t>
            </a:r>
            <a:r>
              <a:rPr lang="zh-CN" altLang="en-US" sz="1400" dirty="0"/>
              <a:t>下达指令、描述任务、提供上下文的主要方式。</a:t>
            </a: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  <p:pic>
        <p:nvPicPr>
          <p:cNvPr id="73" name="Google Shape;73;p15" title="Screenshot 2025-08-31 at 7.53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66" y="1585300"/>
            <a:ext cx="7173402" cy="29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EF7AF31-1E6C-FB8E-6514-AF357A9F1F55}"/>
              </a:ext>
            </a:extLst>
          </p:cNvPr>
          <p:cNvSpPr/>
          <p:nvPr/>
        </p:nvSpPr>
        <p:spPr>
          <a:xfrm>
            <a:off x="152183" y="4035180"/>
            <a:ext cx="1325464" cy="709156"/>
          </a:xfrm>
          <a:prstGeom prst="wedgeRoundRectCallout">
            <a:avLst>
              <a:gd name="adj1" fmla="val 35847"/>
              <a:gd name="adj2" fmla="val -7908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传统编程时代：开发者手工编写规则（如关键词词库、计分逻辑）。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461CCB5C-6ED7-EBDD-CF81-3704199B31B7}"/>
              </a:ext>
            </a:extLst>
          </p:cNvPr>
          <p:cNvSpPr/>
          <p:nvPr/>
        </p:nvSpPr>
        <p:spPr>
          <a:xfrm>
            <a:off x="2954593" y="4038119"/>
            <a:ext cx="1828800" cy="709156"/>
          </a:xfrm>
          <a:prstGeom prst="wedgeRoundRectCallout">
            <a:avLst>
              <a:gd name="adj1" fmla="val 35847"/>
              <a:gd name="adj2" fmla="val -7908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机器学习时代：开发者准备大量标注数据，训练一个分类模型（参数由算法学习得到）。</a:t>
            </a: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A1851DB3-AF80-2CB8-6E5B-ACB738763820}"/>
              </a:ext>
            </a:extLst>
          </p:cNvPr>
          <p:cNvSpPr/>
          <p:nvPr/>
        </p:nvSpPr>
        <p:spPr>
          <a:xfrm>
            <a:off x="6936658" y="4033444"/>
            <a:ext cx="2154138" cy="968256"/>
          </a:xfrm>
          <a:prstGeom prst="wedgeRoundRectCallout">
            <a:avLst>
              <a:gd name="adj1" fmla="val -37809"/>
              <a:gd name="adj2" fmla="val -6489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提示工程时代：开发者无需写规则或训练模型，而是用自然语言设计提示（提供示例、约束输出格式），直接让</a:t>
            </a:r>
            <a:r>
              <a:rPr lang="en-US" altLang="zh-CN" sz="1050" dirty="0"/>
              <a:t>LLM</a:t>
            </a:r>
            <a:r>
              <a:rPr lang="zh-CN" altLang="en-US" sz="1050" dirty="0"/>
              <a:t>完成任务。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41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提示既是艺术也是科学</a:t>
            </a:r>
            <a:endParaRPr lang="en-US" altLang="zh-CN" dirty="0"/>
          </a:p>
          <a:p>
            <a:pPr lvl="0"/>
            <a:r>
              <a:rPr lang="en-US" altLang="zh-CN" dirty="0"/>
              <a:t>LLM</a:t>
            </a:r>
            <a:r>
              <a:rPr lang="zh-CN" altLang="en-US" dirty="0"/>
              <a:t>的黑箱特性意味着存在一些“与</a:t>
            </a:r>
            <a:r>
              <a:rPr lang="en-US" altLang="zh-CN" dirty="0"/>
              <a:t>LLM</a:t>
            </a:r>
            <a:r>
              <a:rPr lang="zh-CN" altLang="en-US" dirty="0"/>
              <a:t>沟通的魔法”</a:t>
            </a:r>
            <a:endParaRPr lang="en-US" altLang="zh-CN" dirty="0"/>
          </a:p>
          <a:p>
            <a:pPr lvl="0"/>
            <a:r>
              <a:rPr lang="zh-CN" altLang="en-US" dirty="0"/>
              <a:t>但已有实证有效的技巧可以稳定提升性能，如少样本学习、思维链等。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96" name="Google Shape;96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prompting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en-US" dirty="0"/>
              <a:t>直接让</a:t>
            </a:r>
            <a:r>
              <a:rPr lang="en-US" altLang="zh-CN" dirty="0"/>
              <a:t>LLM</a:t>
            </a:r>
            <a:r>
              <a:rPr lang="zh-CN" altLang="en-US" dirty="0"/>
              <a:t>做一件事</a:t>
            </a:r>
            <a:endParaRPr lang="en-US" altLang="zh-CN" dirty="0"/>
          </a:p>
          <a:p>
            <a:pPr lvl="1" indent="-342900">
              <a:buSzPts val="1800"/>
              <a:buChar char="●"/>
            </a:pPr>
            <a:r>
              <a:rPr lang="zh-CN" altLang="en-US" dirty="0"/>
              <a:t>不提供额外支持</a:t>
            </a:r>
            <a:endParaRPr lang="en-US" altLang="zh-CN" dirty="0"/>
          </a:p>
          <a:p>
            <a:pPr lvl="1" indent="-342900">
              <a:buSzPts val="1800"/>
              <a:buChar char="●"/>
            </a:pPr>
            <a:r>
              <a:rPr lang="zh-CN" altLang="en-US" dirty="0"/>
              <a:t>不提供示例</a:t>
            </a:r>
            <a:endParaRPr dirty="0"/>
          </a:p>
        </p:txBody>
      </p:sp>
      <p:sp>
        <p:nvSpPr>
          <p:cNvPr id="105" name="Google Shape;10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B468B7-4BB3-6EBF-6A09-D88EC8B1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072" y="1196125"/>
            <a:ext cx="4157720" cy="32175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K-shot prompting</a:t>
            </a: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20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提供示例（</a:t>
            </a:r>
            <a:r>
              <a:rPr lang="en-US" altLang="zh-CN" dirty="0"/>
              <a:t>k=1,3,5</a:t>
            </a:r>
            <a:r>
              <a:rPr lang="zh-CN" altLang="en-US" dirty="0"/>
              <a:t>等），也称为“上下文学习”（</a:t>
            </a:r>
            <a:r>
              <a:rPr lang="en-US" altLang="zh-CN" dirty="0"/>
              <a:t>in-context learning）</a:t>
            </a:r>
          </a:p>
          <a:p>
            <a:pPr lvl="1"/>
            <a:r>
              <a:rPr lang="zh-CN" altLang="en-US" dirty="0"/>
              <a:t>少样本提示通过在提示中加入几个输入</a:t>
            </a:r>
            <a:r>
              <a:rPr lang="en-US" altLang="zh-CN" dirty="0"/>
              <a:t>-</a:t>
            </a:r>
            <a:r>
              <a:rPr lang="zh-CN" altLang="en-US" dirty="0"/>
              <a:t>输出示例，教会模型你期望的格式、风格或逻辑。</a:t>
            </a:r>
            <a:endParaRPr lang="en-US" altLang="zh-CN" dirty="0"/>
          </a:p>
          <a:p>
            <a:pPr lvl="0"/>
            <a:r>
              <a:rPr lang="zh-CN" altLang="en-US" dirty="0"/>
              <a:t>提供的示例跟目标任务越相似，生成效果越好</a:t>
            </a:r>
            <a:endParaRPr lang="en-US" altLang="zh-CN" dirty="0"/>
          </a:p>
          <a:p>
            <a:pPr lvl="0"/>
            <a:r>
              <a:rPr lang="zh-CN" altLang="en-US" dirty="0"/>
              <a:t>适合推理步骤不多的任务</a:t>
            </a:r>
            <a:endParaRPr lang="en-US" altLang="zh-CN" dirty="0"/>
          </a:p>
          <a:p>
            <a:pPr lvl="1"/>
            <a:r>
              <a:rPr lang="zh-CN" altLang="en-US" dirty="0"/>
              <a:t>在 </a:t>
            </a:r>
            <a:r>
              <a:rPr lang="en-US" altLang="zh-CN" dirty="0"/>
              <a:t>K-shot </a:t>
            </a:r>
            <a:r>
              <a:rPr lang="zh-CN" altLang="en-US" dirty="0"/>
              <a:t>提示中，我们给出的几个示例都是“问题 → 直接答案”的对子。模型通过这些样例来模仿输出的格式、风格或简单的模式，但并没有显式展示中间推理步骤。</a:t>
            </a:r>
            <a:endParaRPr lang="en-US" altLang="zh-CN" dirty="0"/>
          </a:p>
          <a:p>
            <a:pPr lvl="1"/>
            <a:endParaRPr dirty="0"/>
          </a:p>
        </p:txBody>
      </p:sp>
      <p:sp>
        <p:nvSpPr>
          <p:cNvPr id="115" name="Google Shape;115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9483524-ED61-535F-918C-320766B9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7" y="339496"/>
            <a:ext cx="5512981" cy="2768607"/>
          </a:xfrm>
          <a:prstGeom prst="rect">
            <a:avLst/>
          </a:prstGeom>
        </p:spPr>
      </p:pic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23A5312F-7054-4E37-851D-4438247184BC}"/>
              </a:ext>
            </a:extLst>
          </p:cNvPr>
          <p:cNvSpPr/>
          <p:nvPr/>
        </p:nvSpPr>
        <p:spPr>
          <a:xfrm>
            <a:off x="6049926" y="1414130"/>
            <a:ext cx="1509823" cy="435935"/>
          </a:xfrm>
          <a:prstGeom prst="wedgeRectCallout">
            <a:avLst>
              <a:gd name="adj1" fmla="val -75735"/>
              <a:gd name="adj2" fmla="val -143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给定多个相似样例，显著提升整体生成效果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BAAD76-2899-5CE4-93D6-FCD2F53AA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77" y="3205507"/>
            <a:ext cx="4295553" cy="175213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36C3DB-9CF4-1248-614D-0EC85E863FB5}"/>
              </a:ext>
            </a:extLst>
          </p:cNvPr>
          <p:cNvSpPr txBox="1"/>
          <p:nvPr/>
        </p:nvSpPr>
        <p:spPr>
          <a:xfrm>
            <a:off x="4763385" y="4380559"/>
            <a:ext cx="395531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Yang Z, Lin H, Yu X, et al. R </a:t>
            </a:r>
            <a:r>
              <a:rPr lang="en-US" altLang="zh-CN" sz="1050" dirty="0" err="1"/>
              <a:t>ComSync</a:t>
            </a:r>
            <a:r>
              <a:rPr lang="en-US" altLang="zh-CN" sz="1050" dirty="0"/>
              <a:t>: improving code-comment synchronization with in-context learning and reranking[J]. Empirical Software Engineering, 2026, 31(4): 84.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1491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DFD314-E106-645C-8E83-8257CFB4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5" y="655845"/>
            <a:ext cx="4574389" cy="25445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E30F73-19F9-9BD4-9595-148E8A61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2" y="262518"/>
            <a:ext cx="3862319" cy="3258623"/>
          </a:xfrm>
          <a:prstGeom prst="rect">
            <a:avLst/>
          </a:prstGeom>
        </p:spPr>
      </p:pic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6653D5C5-EACB-7113-DD6C-2D4FC57F81BA}"/>
              </a:ext>
            </a:extLst>
          </p:cNvPr>
          <p:cNvSpPr/>
          <p:nvPr/>
        </p:nvSpPr>
        <p:spPr>
          <a:xfrm>
            <a:off x="1073889" y="3482163"/>
            <a:ext cx="1509823" cy="435935"/>
          </a:xfrm>
          <a:prstGeom prst="wedgeRectCallout">
            <a:avLst>
              <a:gd name="adj1" fmla="val -23974"/>
              <a:gd name="adj2" fmla="val -1057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K-shot</a:t>
            </a:r>
            <a:r>
              <a:rPr lang="zh-CN" altLang="en-US" sz="1000" dirty="0"/>
              <a:t>比</a:t>
            </a:r>
            <a:r>
              <a:rPr lang="en-US" altLang="zh-CN" sz="1000" dirty="0"/>
              <a:t>0-shot</a:t>
            </a:r>
            <a:r>
              <a:rPr lang="zh-CN" altLang="en-US" sz="1000" dirty="0"/>
              <a:t>性能好</a:t>
            </a:r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420309E3-9BBA-8B7F-DF30-3F1B43234024}"/>
              </a:ext>
            </a:extLst>
          </p:cNvPr>
          <p:cNvSpPr/>
          <p:nvPr/>
        </p:nvSpPr>
        <p:spPr>
          <a:xfrm>
            <a:off x="6213379" y="3778102"/>
            <a:ext cx="1509823" cy="435935"/>
          </a:xfrm>
          <a:prstGeom prst="wedgeRectCallout">
            <a:avLst>
              <a:gd name="adj1" fmla="val -23974"/>
              <a:gd name="adj2" fmla="val -1057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基于检索的</a:t>
            </a:r>
            <a:r>
              <a:rPr lang="en-US" altLang="zh-CN" sz="1000" dirty="0"/>
              <a:t>K-shot</a:t>
            </a:r>
            <a:r>
              <a:rPr lang="zh-CN" altLang="en-US" sz="1000" dirty="0"/>
              <a:t>比随机</a:t>
            </a:r>
            <a:r>
              <a:rPr lang="en-US" altLang="zh-CN" sz="1000" dirty="0"/>
              <a:t>K-shot</a:t>
            </a:r>
            <a:r>
              <a:rPr lang="zh-CN" altLang="en-US" sz="1000" dirty="0"/>
              <a:t>性能好</a:t>
            </a:r>
          </a:p>
        </p:txBody>
      </p:sp>
    </p:spTree>
    <p:extLst>
      <p:ext uri="{BB962C8B-B14F-4D97-AF65-F5344CB8AC3E}">
        <p14:creationId xmlns:p14="http://schemas.microsoft.com/office/powerpoint/2010/main" val="238952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Chain-of-Thought Prompting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思维链提示要求模型在给出最终答案之前，先输出推理过程。这能大幅提高复杂问题的正确率。</a:t>
            </a:r>
            <a:endParaRPr lang="en-US" altLang="zh-CN" dirty="0"/>
          </a:p>
          <a:p>
            <a:pPr lvl="1"/>
            <a:r>
              <a:rPr lang="zh-CN" altLang="en-US" dirty="0"/>
              <a:t>多样本</a:t>
            </a:r>
            <a:r>
              <a:rPr lang="en-US" altLang="zh-CN" dirty="0" err="1"/>
              <a:t>CoT</a:t>
            </a:r>
            <a:r>
              <a:rPr lang="zh-CN" altLang="en-US" dirty="0"/>
              <a:t>：在提示中给出几个带推理步骤的例子。</a:t>
            </a:r>
          </a:p>
          <a:p>
            <a:pPr lvl="1"/>
            <a:r>
              <a:rPr lang="zh-CN" altLang="en-US" dirty="0"/>
              <a:t>零样本</a:t>
            </a:r>
            <a:r>
              <a:rPr lang="en-US" altLang="zh-CN" dirty="0" err="1"/>
              <a:t>CoT</a:t>
            </a:r>
            <a:r>
              <a:rPr lang="zh-CN" altLang="en-US" dirty="0"/>
              <a:t>：直接加上一句“让我们一步步思考”。</a:t>
            </a:r>
            <a:endParaRPr lang="en-US" altLang="zh-CN" dirty="0"/>
          </a:p>
          <a:p>
            <a:pPr lvl="1"/>
            <a:r>
              <a:rPr lang="zh-CN" altLang="en-US" dirty="0"/>
              <a:t>实践中，你可以要求模型把推理放在</a:t>
            </a:r>
            <a:r>
              <a:rPr lang="en-US" altLang="zh-CN" dirty="0"/>
              <a:t>&lt;reasoning&gt;</a:t>
            </a:r>
            <a:r>
              <a:rPr lang="zh-CN" altLang="en-US" dirty="0"/>
              <a:t>标签中，便于解析最终结果。标签名称可自定义：不一定非要用 </a:t>
            </a:r>
            <a:r>
              <a:rPr lang="en-US" altLang="zh-CN" dirty="0"/>
              <a:t>&lt;reasoning&gt;</a:t>
            </a:r>
            <a:r>
              <a:rPr lang="zh-CN" altLang="en-US" dirty="0"/>
              <a:t>，你也可以用 </a:t>
            </a:r>
            <a:r>
              <a:rPr lang="en-US" altLang="zh-CN" dirty="0"/>
              <a:t>&lt;think&gt;, &lt;</a:t>
            </a:r>
            <a:r>
              <a:rPr lang="en-US" altLang="zh-CN" dirty="0" err="1"/>
              <a:t>step_by_step</a:t>
            </a:r>
            <a:r>
              <a:rPr lang="en-US" altLang="zh-CN" dirty="0"/>
              <a:t>&gt;, &lt;</a:t>
            </a:r>
            <a:r>
              <a:rPr lang="zh-CN" altLang="en-US" dirty="0"/>
              <a:t>推理</a:t>
            </a:r>
            <a:r>
              <a:rPr lang="en-US" altLang="zh-CN" dirty="0"/>
              <a:t>&gt; </a:t>
            </a:r>
            <a:r>
              <a:rPr lang="zh-CN" altLang="en-US" dirty="0"/>
              <a:t>等。关键是保持前后一致，并在提示中明确说明。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en-US" dirty="0"/>
              <a:t>适用于需要多不逻辑推理的任务</a:t>
            </a:r>
            <a:endParaRPr lang="en-US" altLang="zh-CN" dirty="0"/>
          </a:p>
          <a:p>
            <a:pPr lvl="1"/>
            <a:r>
              <a:rPr lang="zh-CN" altLang="en-US" dirty="0"/>
              <a:t>编程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 altLang="en-US" dirty="0"/>
              <a:t>数学</a:t>
            </a:r>
            <a:endParaRPr dirty="0"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</a:rPr>
              <a:t>themodernsoftware.dev</a:t>
            </a:r>
            <a:endParaRPr sz="1200" b="1">
              <a:solidFill>
                <a:schemeClr val="lt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6E9155-53CA-68F4-204B-5B78AF84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124" y="3196426"/>
            <a:ext cx="3143076" cy="1947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3" name="Google Shape;153;p23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" name="Google Shape;154;p23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54850" y="2141675"/>
            <a:ext cx="26187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2"/>
                </a:solidFill>
              </a:rPr>
              <a:t>Write a function to find the longest increasing subsequence in an array.</a:t>
            </a:r>
            <a:endParaRPr sz="1200" b="1" i="1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136525" y="1451600"/>
            <a:ext cx="29442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i="1">
                <a:solidFill>
                  <a:schemeClr val="dk2"/>
                </a:solidFill>
              </a:rPr>
              <a:t>Write a function to find the longest increasing subsequence in an array.</a:t>
            </a:r>
            <a:endParaRPr sz="1200" b="1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2"/>
                </a:solidFill>
              </a:rPr>
              <a:t>Think step by step about the subproblems before coding. Include worked out examples of subarrays you are considering as you answer this question.</a:t>
            </a:r>
            <a:endParaRPr sz="1200" b="1" i="1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Zero-shot CoT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90A12F-50D9-AB8C-6903-1E421BB9E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63" y="671746"/>
            <a:ext cx="6097152" cy="334204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9DFA948-9294-483A-18FC-DD3F8027359C}"/>
              </a:ext>
            </a:extLst>
          </p:cNvPr>
          <p:cNvSpPr txBox="1"/>
          <p:nvPr/>
        </p:nvSpPr>
        <p:spPr>
          <a:xfrm>
            <a:off x="342900" y="4518837"/>
            <a:ext cx="8458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Wei J, Wang X, Schuurmans D, et al. Chain-of-thought prompting elicits reasoning in large language models[J]. Advances in neural information processing systems, 2022, 35: 24824-24837.</a:t>
            </a:r>
            <a:endParaRPr lang="zh-CN" altLang="en-US" sz="1100" dirty="0"/>
          </a:p>
        </p:txBody>
      </p:sp>
      <p:sp>
        <p:nvSpPr>
          <p:cNvPr id="8" name="Google Shape;159;p23">
            <a:extLst>
              <a:ext uri="{FF2B5EF4-FFF2-40B4-BE49-F238E27FC236}">
                <a16:creationId xmlns:a16="http://schemas.microsoft.com/office/drawing/2014/main" id="{87BE0856-4E6B-A2E4-AAB2-8B8C47553E51}"/>
              </a:ext>
            </a:extLst>
          </p:cNvPr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K-shot CoT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15753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5839541-1002-34EA-378F-F3DCB2FF5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11" y="398721"/>
            <a:ext cx="6991840" cy="40297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FB11D2B-43F5-2453-539E-0281B63F8263}"/>
              </a:ext>
            </a:extLst>
          </p:cNvPr>
          <p:cNvSpPr txBox="1"/>
          <p:nvPr/>
        </p:nvSpPr>
        <p:spPr>
          <a:xfrm>
            <a:off x="122273" y="4548928"/>
            <a:ext cx="8782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 J, Li G, Li Y, et al. Structured chain-of-thought prompting for code generation[J]. ACM Transactions on Software Engineering and Methodology, 2025, 34(2): 1-23.</a:t>
            </a:r>
            <a:endParaRPr lang="zh-CN" altLang="en-US" sz="1200" dirty="0"/>
          </a:p>
        </p:txBody>
      </p:sp>
      <p:sp>
        <p:nvSpPr>
          <p:cNvPr id="8" name="Google Shape;159;p23">
            <a:extLst>
              <a:ext uri="{FF2B5EF4-FFF2-40B4-BE49-F238E27FC236}">
                <a16:creationId xmlns:a16="http://schemas.microsoft.com/office/drawing/2014/main" id="{5D9E26C4-57D7-EBE8-5CDA-50638091A160}"/>
              </a:ext>
            </a:extLst>
          </p:cNvPr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altLang="zh-CN" sz="2000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tructured</a:t>
            </a:r>
            <a:r>
              <a:rPr lang="en-US" altLang="zh-CN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CoT</a:t>
            </a:r>
            <a:endParaRPr sz="20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7451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A9B5098-8B55-AFDE-9E25-F0A14FD2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894" y="159489"/>
            <a:ext cx="5656041" cy="4478747"/>
          </a:xfrm>
          <a:prstGeom prst="rect">
            <a:avLst/>
          </a:prstGeom>
        </p:spPr>
      </p:pic>
      <p:sp>
        <p:nvSpPr>
          <p:cNvPr id="2" name="Google Shape;157;p23">
            <a:extLst>
              <a:ext uri="{FF2B5EF4-FFF2-40B4-BE49-F238E27FC236}">
                <a16:creationId xmlns:a16="http://schemas.microsoft.com/office/drawing/2014/main" id="{92544EEB-670C-B34B-A95D-666A41B3A54E}"/>
              </a:ext>
            </a:extLst>
          </p:cNvPr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894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Self-consistency Prompting</a:t>
            </a:r>
            <a:endParaRPr dirty="0"/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对同一提示多次采样（通常结合</a:t>
            </a:r>
            <a:r>
              <a:rPr lang="en-US" altLang="zh-CN" dirty="0" err="1"/>
              <a:t>CoT</a:t>
            </a:r>
            <a:r>
              <a:rPr lang="zh-CN" altLang="en-US" dirty="0"/>
              <a:t>）</a:t>
            </a:r>
          </a:p>
          <a:p>
            <a:pPr lvl="0"/>
            <a:r>
              <a:rPr lang="zh-CN" altLang="en-US" dirty="0"/>
              <a:t>聚合最常见的答案</a:t>
            </a:r>
          </a:p>
          <a:p>
            <a:pPr lvl="0"/>
            <a:r>
              <a:rPr lang="zh-CN" altLang="en-US" dirty="0"/>
              <a:t>通过模型集成减少幻觉和错误</a:t>
            </a:r>
            <a:endParaRPr dirty="0"/>
          </a:p>
        </p:txBody>
      </p:sp>
      <p:sp>
        <p:nvSpPr>
          <p:cNvPr id="166" name="Google Shape;166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721B58-A0A7-0A72-C1E4-009F56BB9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76" y="281763"/>
            <a:ext cx="5824424" cy="34045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0AA8874-25E8-363F-7054-4A4881F0C26E}"/>
              </a:ext>
            </a:extLst>
          </p:cNvPr>
          <p:cNvSpPr txBox="1"/>
          <p:nvPr/>
        </p:nvSpPr>
        <p:spPr>
          <a:xfrm>
            <a:off x="196652" y="4234566"/>
            <a:ext cx="8750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Wang X, Wei J, Schuurmans D, et al. Self-Consistency Improves Chain of Thought Reasoning in Language Models[C]//The Eleventh International Conference on Learning Representations.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2101B8A-C99E-CDDA-F859-03C90064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8" y="863447"/>
            <a:ext cx="4500271" cy="2475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DA3A538-4030-1A0E-A26F-27B92885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9" y="2842081"/>
            <a:ext cx="7065335" cy="20512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557BFD-ABAC-1BB3-7456-AB6478DF8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88" y="1670233"/>
            <a:ext cx="3024021" cy="5319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ABE29F-5B88-8AD3-2904-28F91D6AE647}"/>
              </a:ext>
            </a:extLst>
          </p:cNvPr>
          <p:cNvSpPr/>
          <p:nvPr/>
        </p:nvSpPr>
        <p:spPr>
          <a:xfrm>
            <a:off x="3359857" y="1750917"/>
            <a:ext cx="3756878" cy="3076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Weighted Sum </a:t>
            </a:r>
            <a:r>
              <a:rPr lang="zh-CN" altLang="en-US" sz="1200" dirty="0"/>
              <a:t>策略：各答案按概率分数分组求和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0053BA1-20BC-AD67-5C87-755E813DA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88" y="2202169"/>
            <a:ext cx="3249979" cy="547832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69EB352-B093-E451-7F3A-B7349A7821AB}"/>
              </a:ext>
            </a:extLst>
          </p:cNvPr>
          <p:cNvSpPr/>
          <p:nvPr/>
        </p:nvSpPr>
        <p:spPr>
          <a:xfrm>
            <a:off x="3542426" y="2322264"/>
            <a:ext cx="4361118" cy="3076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Weighted Avg </a:t>
            </a:r>
            <a:r>
              <a:rPr lang="zh-CN" altLang="en-US" sz="1200" dirty="0"/>
              <a:t>策略：压低概率分数低，但出现频次高的答案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BABE77D-D43E-1C06-A5FD-874EF7636033}"/>
              </a:ext>
            </a:extLst>
          </p:cNvPr>
          <p:cNvSpPr/>
          <p:nvPr/>
        </p:nvSpPr>
        <p:spPr>
          <a:xfrm>
            <a:off x="4757185" y="803363"/>
            <a:ext cx="4304454" cy="3076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对生成长度</a:t>
            </a:r>
            <a:r>
              <a:rPr lang="en-US" altLang="zh-CN" sz="1200" dirty="0"/>
              <a:t>K</a:t>
            </a:r>
            <a:r>
              <a:rPr lang="zh-CN" altLang="en-US" sz="1200" dirty="0"/>
              <a:t>归一化后的概率分数，缓解长序列分数低的问题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5B55761-3B62-1F23-57AA-D5204F85A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88" y="1131588"/>
            <a:ext cx="3249979" cy="533878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938EBBE-E27E-FBB6-B580-0CE8621F2DF8}"/>
              </a:ext>
            </a:extLst>
          </p:cNvPr>
          <p:cNvSpPr/>
          <p:nvPr/>
        </p:nvSpPr>
        <p:spPr>
          <a:xfrm>
            <a:off x="3593813" y="1223595"/>
            <a:ext cx="2625903" cy="3022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对生成长度</a:t>
            </a:r>
            <a:r>
              <a:rPr lang="en-US" altLang="zh-CN" sz="1200" dirty="0"/>
              <a:t>K</a:t>
            </a:r>
            <a:r>
              <a:rPr lang="zh-CN" altLang="en-US" sz="1200" dirty="0"/>
              <a:t>未归一化的概率分数</a:t>
            </a:r>
          </a:p>
        </p:txBody>
      </p:sp>
      <p:sp>
        <p:nvSpPr>
          <p:cNvPr id="22" name="Google Shape;165;p24">
            <a:extLst>
              <a:ext uri="{FF2B5EF4-FFF2-40B4-BE49-F238E27FC236}">
                <a16:creationId xmlns:a16="http://schemas.microsoft.com/office/drawing/2014/main" id="{4A44BF58-BBDA-F444-0348-69CFB69E2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0888" y="35035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合并策略分析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322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Tool Use</a:t>
            </a:r>
            <a:endParaRPr dirty="0"/>
          </a:p>
        </p:txBody>
      </p:sp>
      <p:sp>
        <p:nvSpPr>
          <p:cNvPr id="188" name="Google Shape;18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允许</a:t>
            </a:r>
            <a:r>
              <a:rPr lang="en-US" altLang="zh-CN" dirty="0"/>
              <a:t>LLM</a:t>
            </a:r>
            <a:r>
              <a:rPr lang="zh-CN" altLang="en-US" dirty="0"/>
              <a:t>将任务委托给外部系统</a:t>
            </a:r>
          </a:p>
          <a:p>
            <a:pPr lvl="0"/>
            <a:r>
              <a:rPr lang="zh-CN" altLang="en-US" dirty="0"/>
              <a:t>减少幻觉，提高自主性</a:t>
            </a:r>
            <a:endParaRPr lang="en-US" altLang="zh-CN" dirty="0"/>
          </a:p>
          <a:p>
            <a:pPr lvl="1"/>
            <a:r>
              <a:rPr lang="en-US" altLang="zh-CN" dirty="0"/>
              <a:t>LLM</a:t>
            </a:r>
            <a:r>
              <a:rPr lang="zh-CN" altLang="en-US" dirty="0"/>
              <a:t>本身不能直接运行代码、查询数据库或执行系统命令。但通过工具调用（如函数调用、</a:t>
            </a:r>
            <a:r>
              <a:rPr lang="en-US" altLang="zh-CN" dirty="0"/>
              <a:t>API</a:t>
            </a:r>
            <a:r>
              <a:rPr lang="zh-CN" altLang="en-US" dirty="0"/>
              <a:t>集成），模型可以请求外部系统完成这些操作。</a:t>
            </a:r>
          </a:p>
          <a:p>
            <a:pPr lvl="1"/>
            <a:r>
              <a:rPr lang="zh-CN" altLang="en-US" dirty="0"/>
              <a:t>例如，在一次修复后，你可以让模型调用</a:t>
            </a:r>
            <a:r>
              <a:rPr lang="en-US" altLang="zh-CN" dirty="0" err="1"/>
              <a:t>pytest</a:t>
            </a:r>
            <a:r>
              <a:rPr lang="zh-CN" altLang="en-US" dirty="0"/>
              <a:t>命令来确保单元测试仍然通过。模型会生成工具调用指令，由宿主环境执行并返回结果。整个流程可通过</a:t>
            </a:r>
            <a:r>
              <a:rPr lang="en-US" altLang="zh-CN" dirty="0" err="1"/>
              <a:t>LangChain</a:t>
            </a:r>
            <a:r>
              <a:rPr lang="zh-CN" altLang="en-US" dirty="0"/>
              <a:t>搭建。</a:t>
            </a:r>
          </a:p>
          <a:p>
            <a:pPr lvl="1"/>
            <a:r>
              <a:rPr lang="zh-CN" altLang="en-US" dirty="0"/>
              <a:t>这是构建</a:t>
            </a:r>
            <a:r>
              <a:rPr lang="en-US" altLang="zh-CN" dirty="0"/>
              <a:t>AI Agent</a:t>
            </a:r>
            <a:r>
              <a:rPr lang="zh-CN" altLang="en-US" dirty="0"/>
              <a:t>的基石技术。</a:t>
            </a:r>
            <a:endParaRPr dirty="0"/>
          </a:p>
        </p:txBody>
      </p:sp>
      <p:sp>
        <p:nvSpPr>
          <p:cNvPr id="189" name="Google Shape;18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可选过程 3">
            <a:extLst>
              <a:ext uri="{FF2B5EF4-FFF2-40B4-BE49-F238E27FC236}">
                <a16:creationId xmlns:a16="http://schemas.microsoft.com/office/drawing/2014/main" id="{CF8FAB96-EB19-D079-731E-5B3546C92594}"/>
              </a:ext>
            </a:extLst>
          </p:cNvPr>
          <p:cNvSpPr/>
          <p:nvPr/>
        </p:nvSpPr>
        <p:spPr>
          <a:xfrm>
            <a:off x="307226" y="399133"/>
            <a:ext cx="3381154" cy="275383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/>
              <a:t> [System Prompt] </a:t>
            </a:r>
            <a:r>
              <a:rPr lang="zh-CN" altLang="en-US" sz="800" dirty="0"/>
              <a:t>系统提示：你是一个资深的 </a:t>
            </a:r>
            <a:r>
              <a:rPr lang="en-US" altLang="zh-CN" sz="800" dirty="0"/>
              <a:t>Python </a:t>
            </a:r>
            <a:r>
              <a:rPr lang="zh-CN" altLang="en-US" sz="800" dirty="0"/>
              <a:t>调试专家。你会收到一段有 </a:t>
            </a:r>
            <a:r>
              <a:rPr lang="en-US" altLang="zh-CN" sz="800" dirty="0"/>
              <a:t>Bug </a:t>
            </a:r>
            <a:r>
              <a:rPr lang="zh-CN" altLang="en-US" sz="800" dirty="0"/>
              <a:t>的代码和对应的单元测试。 你的任务是：</a:t>
            </a:r>
            <a:endParaRPr lang="en-US" altLang="zh-CN" sz="800" dirty="0"/>
          </a:p>
          <a:p>
            <a:r>
              <a:rPr lang="en-US" altLang="zh-CN" sz="800" dirty="0"/>
              <a:t>1. </a:t>
            </a:r>
            <a:r>
              <a:rPr lang="zh-CN" altLang="en-US" sz="800" dirty="0"/>
              <a:t>分析代码中的错误</a:t>
            </a:r>
            <a:endParaRPr lang="en-US" altLang="zh-CN" sz="800" dirty="0"/>
          </a:p>
          <a:p>
            <a:r>
              <a:rPr lang="en-US" altLang="zh-CN" sz="800" dirty="0"/>
              <a:t>2. </a:t>
            </a:r>
            <a:r>
              <a:rPr lang="zh-CN" altLang="en-US" sz="800" dirty="0"/>
              <a:t>给出修复方案                                             </a:t>
            </a:r>
            <a:endParaRPr lang="en-US" altLang="zh-CN" sz="800" dirty="0"/>
          </a:p>
          <a:p>
            <a:r>
              <a:rPr lang="en-US" altLang="zh-CN" sz="800" dirty="0"/>
              <a:t>3. </a:t>
            </a:r>
            <a:r>
              <a:rPr lang="zh-CN" altLang="en-US" sz="800" dirty="0"/>
              <a:t>调用 </a:t>
            </a:r>
            <a:r>
              <a:rPr lang="en-US" altLang="zh-CN" sz="800" dirty="0" err="1"/>
              <a:t>run_pytest</a:t>
            </a:r>
            <a:r>
              <a:rPr lang="en-US" altLang="zh-CN" sz="800" dirty="0"/>
              <a:t> </a:t>
            </a:r>
            <a:r>
              <a:rPr lang="zh-CN" altLang="en-US" sz="800" dirty="0"/>
              <a:t>工具运行测试，验证修复是否正确                         </a:t>
            </a:r>
            <a:endParaRPr lang="en-US" altLang="zh-CN" sz="800" dirty="0"/>
          </a:p>
          <a:p>
            <a:r>
              <a:rPr lang="en-US" altLang="zh-CN" sz="800" dirty="0"/>
              <a:t>4. </a:t>
            </a:r>
            <a:r>
              <a:rPr lang="zh-CN" altLang="en-US" sz="800" dirty="0"/>
              <a:t>如果测试失败，继续修改并再次运行测试，直到全部通过                            </a:t>
            </a:r>
            <a:endParaRPr lang="en-US" altLang="zh-CN" sz="800" dirty="0"/>
          </a:p>
          <a:p>
            <a:r>
              <a:rPr lang="zh-CN" altLang="en-US" sz="800" dirty="0"/>
              <a:t>修复代码时，请保持函数名和接口不变，只修改内部实现。                               </a:t>
            </a:r>
            <a:endParaRPr lang="en-US" altLang="zh-CN" sz="800" dirty="0"/>
          </a:p>
          <a:p>
            <a:r>
              <a:rPr lang="zh-CN" altLang="en-US" sz="800" dirty="0"/>
              <a:t>当测试全部通过后，用中文输出</a:t>
            </a:r>
            <a:r>
              <a:rPr lang="en-US" altLang="zh-CN" sz="800" dirty="0"/>
              <a:t>"【</a:t>
            </a:r>
            <a:r>
              <a:rPr lang="zh-CN" altLang="en-US" sz="800" dirty="0"/>
              <a:t>修复完成</a:t>
            </a:r>
            <a:r>
              <a:rPr lang="en-US" altLang="zh-CN" sz="800" dirty="0"/>
              <a:t>】"</a:t>
            </a:r>
            <a:r>
              <a:rPr lang="zh-CN" altLang="en-US" sz="800" dirty="0"/>
              <a:t>并给出最终的正确代码。                        </a:t>
            </a:r>
            <a:endParaRPr lang="en-US" altLang="zh-CN" sz="800" dirty="0"/>
          </a:p>
          <a:p>
            <a:r>
              <a:rPr lang="en-US" altLang="zh-CN" sz="800" dirty="0"/>
              <a:t>[User Message] </a:t>
            </a:r>
            <a:r>
              <a:rPr lang="zh-CN" altLang="en-US" sz="800" dirty="0"/>
              <a:t>用户消息：                                      </a:t>
            </a:r>
            <a:endParaRPr lang="en-US" altLang="zh-CN" sz="800" dirty="0"/>
          </a:p>
          <a:p>
            <a:r>
              <a:rPr lang="zh-CN" altLang="en-US" sz="800" dirty="0"/>
              <a:t>我有一个 </a:t>
            </a:r>
            <a:r>
              <a:rPr lang="en-US" altLang="zh-CN" sz="800" dirty="0"/>
              <a:t>Python </a:t>
            </a:r>
            <a:r>
              <a:rPr lang="zh-CN" altLang="en-US" sz="800" dirty="0"/>
              <a:t>函数存在 </a:t>
            </a:r>
            <a:r>
              <a:rPr lang="en-US" altLang="zh-CN" sz="800" dirty="0" err="1"/>
              <a:t>IndexError</a:t>
            </a:r>
            <a:r>
              <a:rPr lang="zh-CN" altLang="en-US" sz="800" dirty="0"/>
              <a:t>，请帮我修复它。                      </a:t>
            </a:r>
            <a:endParaRPr lang="en-US" altLang="zh-CN" sz="800" dirty="0"/>
          </a:p>
          <a:p>
            <a:r>
              <a:rPr lang="en-US" altLang="zh-CN" sz="800" dirty="0"/>
              <a:t>【</a:t>
            </a:r>
            <a:r>
              <a:rPr lang="zh-CN" altLang="en-US" sz="800" dirty="0"/>
              <a:t>有 </a:t>
            </a:r>
            <a:r>
              <a:rPr lang="en-US" altLang="zh-CN" sz="800" dirty="0"/>
              <a:t>Bug </a:t>
            </a:r>
            <a:r>
              <a:rPr lang="zh-CN" altLang="en-US" sz="800" dirty="0"/>
              <a:t>的代码</a:t>
            </a:r>
            <a:r>
              <a:rPr lang="en-US" altLang="zh-CN" sz="800" dirty="0"/>
              <a:t>】                                             </a:t>
            </a:r>
          </a:p>
          <a:p>
            <a:r>
              <a:rPr lang="en-US" altLang="zh-CN" sz="800" dirty="0"/>
              <a:t>  ```python                                                </a:t>
            </a:r>
          </a:p>
          <a:p>
            <a:r>
              <a:rPr lang="en-US" altLang="zh-CN" sz="800" dirty="0"/>
              <a:t>      def </a:t>
            </a:r>
            <a:r>
              <a:rPr lang="en-US" altLang="zh-CN" sz="800" dirty="0" err="1"/>
              <a:t>print_even_index_items</a:t>
            </a:r>
            <a:r>
              <a:rPr lang="en-US" altLang="zh-CN" sz="800" dirty="0"/>
              <a:t>(items):                       </a:t>
            </a:r>
          </a:p>
          <a:p>
            <a:r>
              <a:rPr lang="en-US" altLang="zh-CN" sz="800" dirty="0"/>
              <a:t>        """</a:t>
            </a:r>
            <a:r>
              <a:rPr lang="zh-CN" altLang="en-US" sz="800" dirty="0"/>
              <a:t>打印列表中所有元素的值</a:t>
            </a:r>
            <a:r>
              <a:rPr lang="en-US" altLang="zh-CN" sz="800" dirty="0"/>
              <a:t>"""                                    </a:t>
            </a:r>
          </a:p>
          <a:p>
            <a:r>
              <a:rPr lang="en-US" altLang="zh-CN" sz="800" dirty="0"/>
              <a:t>        for </a:t>
            </a:r>
            <a:r>
              <a:rPr lang="en-US" altLang="zh-CN" sz="800" dirty="0" err="1"/>
              <a:t>i</a:t>
            </a:r>
            <a:r>
              <a:rPr lang="en-US" altLang="zh-CN" sz="800" dirty="0"/>
              <a:t> in range(</a:t>
            </a:r>
            <a:r>
              <a:rPr lang="en-US" altLang="zh-CN" sz="800" dirty="0" err="1"/>
              <a:t>len</a:t>
            </a:r>
            <a:r>
              <a:rPr lang="en-US" altLang="zh-CN" sz="800" dirty="0"/>
              <a:t>(items) + 1): </a:t>
            </a:r>
          </a:p>
          <a:p>
            <a:r>
              <a:rPr lang="en-US" altLang="zh-CN" sz="800" dirty="0"/>
              <a:t>             print(items[</a:t>
            </a:r>
            <a:r>
              <a:rPr lang="en-US" altLang="zh-CN" sz="800" dirty="0" err="1"/>
              <a:t>i</a:t>
            </a:r>
            <a:r>
              <a:rPr lang="en-US" altLang="zh-CN" sz="800" dirty="0"/>
              <a:t>])                                  </a:t>
            </a:r>
          </a:p>
          <a:p>
            <a:r>
              <a:rPr lang="en-US" altLang="zh-CN" sz="800" dirty="0"/>
              <a:t>                                                             </a:t>
            </a:r>
          </a:p>
          <a:p>
            <a:r>
              <a:rPr lang="en-US" altLang="zh-CN" sz="800" dirty="0"/>
              <a:t>   ```                                                      </a:t>
            </a:r>
          </a:p>
          <a:p>
            <a:r>
              <a:rPr lang="en-US" altLang="zh-CN" sz="800" dirty="0"/>
              <a:t> </a:t>
            </a:r>
            <a:r>
              <a:rPr lang="zh-CN" altLang="en-US" sz="800" dirty="0"/>
              <a:t>请分析 </a:t>
            </a:r>
            <a:r>
              <a:rPr lang="en-US" altLang="zh-CN" sz="800" dirty="0"/>
              <a:t>Bug </a:t>
            </a:r>
            <a:r>
              <a:rPr lang="zh-CN" altLang="en-US" sz="800" dirty="0"/>
              <a:t>原因，修复代码，然后调用 </a:t>
            </a:r>
            <a:r>
              <a:rPr lang="en-US" altLang="zh-CN" sz="800" dirty="0" err="1"/>
              <a:t>run_pytest</a:t>
            </a:r>
            <a:r>
              <a:rPr lang="en-US" altLang="zh-CN" sz="800" dirty="0"/>
              <a:t> </a:t>
            </a:r>
            <a:r>
              <a:rPr lang="zh-CN" altLang="en-US" sz="800" dirty="0"/>
              <a:t>工具验证修复是否正确。</a:t>
            </a:r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C2E5A616-90F6-FDC5-5DA8-B339BA12994E}"/>
              </a:ext>
            </a:extLst>
          </p:cNvPr>
          <p:cNvSpPr/>
          <p:nvPr/>
        </p:nvSpPr>
        <p:spPr>
          <a:xfrm>
            <a:off x="4882120" y="399134"/>
            <a:ext cx="3817089" cy="236001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/>
              <a:t>[</a:t>
            </a:r>
            <a:r>
              <a:rPr lang="en-US" altLang="zh-CN" sz="800" dirty="0" err="1"/>
              <a:t>Tought</a:t>
            </a:r>
            <a:r>
              <a:rPr lang="en-US" altLang="zh-CN" sz="800" dirty="0"/>
              <a:t>]</a:t>
            </a:r>
          </a:p>
          <a:p>
            <a:r>
              <a:rPr lang="en-US" altLang="zh-CN" sz="800" dirty="0"/>
              <a:t>## Bug </a:t>
            </a:r>
            <a:r>
              <a:rPr lang="zh-CN" altLang="en-US" sz="800" dirty="0"/>
              <a:t>分析                                                </a:t>
            </a:r>
            <a:endParaRPr lang="en-US" altLang="zh-CN" sz="800" dirty="0"/>
          </a:p>
          <a:p>
            <a:r>
              <a:rPr lang="zh-CN" altLang="en-US" sz="800" dirty="0"/>
              <a:t>问题出在 </a:t>
            </a:r>
            <a:r>
              <a:rPr lang="en-US" altLang="zh-CN" sz="800" dirty="0"/>
              <a:t>`range(</a:t>
            </a:r>
            <a:r>
              <a:rPr lang="en-US" altLang="zh-CN" sz="800" dirty="0" err="1"/>
              <a:t>len</a:t>
            </a:r>
            <a:r>
              <a:rPr lang="en-US" altLang="zh-CN" sz="800" dirty="0"/>
              <a:t>(items) + 1)` </a:t>
            </a:r>
            <a:r>
              <a:rPr lang="zh-CN" altLang="en-US" sz="800" dirty="0"/>
              <a:t>这一行。                        </a:t>
            </a:r>
            <a:endParaRPr lang="en-US" altLang="zh-CN" sz="800" dirty="0"/>
          </a:p>
          <a:p>
            <a:r>
              <a:rPr lang="en-US" altLang="zh-CN" sz="800" dirty="0"/>
              <a:t> - </a:t>
            </a:r>
            <a:r>
              <a:rPr lang="zh-CN" altLang="en-US" sz="800" dirty="0"/>
              <a:t>当列表长度为 </a:t>
            </a:r>
            <a:r>
              <a:rPr lang="en-US" altLang="zh-CN" sz="800" dirty="0"/>
              <a:t>`n` </a:t>
            </a:r>
            <a:r>
              <a:rPr lang="zh-CN" altLang="en-US" sz="800" dirty="0"/>
              <a:t>时，有效索引范围是 </a:t>
            </a:r>
            <a:r>
              <a:rPr lang="en-US" altLang="zh-CN" sz="800" dirty="0"/>
              <a:t>`0` </a:t>
            </a:r>
            <a:r>
              <a:rPr lang="zh-CN" altLang="en-US" sz="800" dirty="0"/>
              <a:t>到 </a:t>
            </a:r>
            <a:r>
              <a:rPr lang="en-US" altLang="zh-CN" sz="800" dirty="0"/>
              <a:t>`n-1`                       </a:t>
            </a:r>
          </a:p>
          <a:p>
            <a:r>
              <a:rPr lang="en-US" altLang="zh-CN" sz="800" dirty="0"/>
              <a:t> - `range(</a:t>
            </a:r>
            <a:r>
              <a:rPr lang="en-US" altLang="zh-CN" sz="800" dirty="0" err="1"/>
              <a:t>len</a:t>
            </a:r>
            <a:r>
              <a:rPr lang="en-US" altLang="zh-CN" sz="800" dirty="0"/>
              <a:t>(items) + 1)` </a:t>
            </a:r>
            <a:r>
              <a:rPr lang="zh-CN" altLang="en-US" sz="800" dirty="0"/>
              <a:t>会生成 </a:t>
            </a:r>
            <a:r>
              <a:rPr lang="en-US" altLang="zh-CN" sz="800" dirty="0"/>
              <a:t>`0, 1, 2, ..., n`</a:t>
            </a:r>
            <a:r>
              <a:rPr lang="zh-CN" altLang="en-US" sz="800" dirty="0"/>
              <a:t>，共 </a:t>
            </a:r>
            <a:r>
              <a:rPr lang="en-US" altLang="zh-CN" sz="800" dirty="0"/>
              <a:t>`n+1` </a:t>
            </a:r>
            <a:r>
              <a:rPr lang="zh-CN" altLang="en-US" sz="800" dirty="0"/>
              <a:t>个索引</a:t>
            </a:r>
            <a:endParaRPr lang="en-US" altLang="zh-CN" sz="800" dirty="0"/>
          </a:p>
          <a:p>
            <a:r>
              <a:rPr lang="en-US" altLang="zh-CN" sz="800" dirty="0"/>
              <a:t> - </a:t>
            </a:r>
            <a:r>
              <a:rPr lang="zh-CN" altLang="en-US" sz="800" dirty="0"/>
              <a:t>当 </a:t>
            </a:r>
            <a:r>
              <a:rPr lang="en-US" altLang="zh-CN" sz="800" dirty="0"/>
              <a:t>`</a:t>
            </a:r>
            <a:r>
              <a:rPr lang="en-US" altLang="zh-CN" sz="800" dirty="0" err="1"/>
              <a:t>i</a:t>
            </a:r>
            <a:r>
              <a:rPr lang="en-US" altLang="zh-CN" sz="800" dirty="0"/>
              <a:t> = n` </a:t>
            </a:r>
            <a:r>
              <a:rPr lang="zh-CN" altLang="en-US" sz="800" dirty="0"/>
              <a:t>时，访问 </a:t>
            </a:r>
            <a:r>
              <a:rPr lang="en-US" altLang="zh-CN" sz="800" dirty="0"/>
              <a:t>`items[n]` </a:t>
            </a:r>
            <a:r>
              <a:rPr lang="zh-CN" altLang="en-US" sz="800" dirty="0"/>
              <a:t>就会引发 </a:t>
            </a:r>
            <a:r>
              <a:rPr lang="en-US" altLang="zh-CN" sz="800" dirty="0"/>
              <a:t>`</a:t>
            </a:r>
            <a:r>
              <a:rPr lang="en-US" altLang="zh-CN" sz="800" dirty="0" err="1"/>
              <a:t>IndexError</a:t>
            </a:r>
            <a:r>
              <a:rPr lang="en-US" altLang="zh-CN" sz="800" dirty="0"/>
              <a:t>: list index out of range`</a:t>
            </a:r>
          </a:p>
          <a:p>
            <a:r>
              <a:rPr lang="en-US" altLang="zh-CN" sz="800" dirty="0"/>
              <a:t>**</a:t>
            </a:r>
            <a:r>
              <a:rPr lang="zh-CN" altLang="en-US" sz="800" dirty="0"/>
              <a:t>修复方案**：</a:t>
            </a:r>
            <a:endParaRPr lang="en-US" altLang="zh-CN" sz="800" dirty="0"/>
          </a:p>
          <a:p>
            <a:r>
              <a:rPr lang="en-US" altLang="zh-CN" sz="800" dirty="0"/>
              <a:t>def </a:t>
            </a:r>
            <a:r>
              <a:rPr lang="en-US" altLang="zh-CN" sz="800" dirty="0" err="1"/>
              <a:t>print_even_index_items</a:t>
            </a:r>
            <a:r>
              <a:rPr lang="en-US" altLang="zh-CN" sz="800" dirty="0"/>
              <a:t>(items):                     </a:t>
            </a:r>
          </a:p>
          <a:p>
            <a:r>
              <a:rPr lang="en-US" altLang="zh-CN" sz="800" dirty="0"/>
              <a:t>          """</a:t>
            </a:r>
            <a:r>
              <a:rPr lang="zh-CN" altLang="en-US" sz="800" dirty="0"/>
              <a:t>打印列表中所有元素的值</a:t>
            </a:r>
            <a:r>
              <a:rPr lang="en-US" altLang="zh-CN" sz="800" dirty="0"/>
              <a:t>"""                                  </a:t>
            </a:r>
          </a:p>
          <a:p>
            <a:r>
              <a:rPr lang="en-US" altLang="zh-CN" sz="800" dirty="0"/>
              <a:t>          for </a:t>
            </a:r>
            <a:r>
              <a:rPr lang="en-US" altLang="zh-CN" sz="800" dirty="0" err="1"/>
              <a:t>i</a:t>
            </a:r>
            <a:r>
              <a:rPr lang="en-US" altLang="zh-CN" sz="800" dirty="0"/>
              <a:t> in range(</a:t>
            </a:r>
            <a:r>
              <a:rPr lang="en-US" altLang="zh-CN" sz="800" dirty="0" err="1"/>
              <a:t>len</a:t>
            </a:r>
            <a:r>
              <a:rPr lang="en-US" altLang="zh-CN" sz="800" dirty="0"/>
              <a:t>(items)):   # </a:t>
            </a:r>
            <a:r>
              <a:rPr lang="zh-CN" altLang="en-US" sz="800" dirty="0"/>
              <a:t>修复：去掉 </a:t>
            </a:r>
            <a:r>
              <a:rPr lang="en-US" altLang="zh-CN" sz="800" dirty="0"/>
              <a:t>+1           </a:t>
            </a:r>
          </a:p>
          <a:p>
            <a:r>
              <a:rPr lang="en-US" altLang="zh-CN" sz="800" dirty="0"/>
              <a:t>                 print(items[</a:t>
            </a:r>
            <a:r>
              <a:rPr lang="en-US" altLang="zh-CN" sz="800" dirty="0" err="1"/>
              <a:t>i</a:t>
            </a:r>
            <a:r>
              <a:rPr lang="en-US" altLang="zh-CN" sz="800" dirty="0"/>
              <a:t>]) </a:t>
            </a:r>
            <a:endParaRPr lang="zh-CN" altLang="en-US" sz="800" dirty="0"/>
          </a:p>
          <a:p>
            <a:r>
              <a:rPr lang="en-US" altLang="zh-CN" sz="800" dirty="0"/>
              <a:t>[Act] </a:t>
            </a:r>
            <a:r>
              <a:rPr lang="zh-CN" altLang="en-US" sz="800" dirty="0"/>
              <a:t>调用工具</a:t>
            </a:r>
            <a:r>
              <a:rPr lang="en-US" altLang="zh-CN" sz="800" dirty="0"/>
              <a:t>: </a:t>
            </a:r>
            <a:r>
              <a:rPr lang="en-US" altLang="zh-CN" sz="800" dirty="0" err="1"/>
              <a:t>run_pytest</a:t>
            </a:r>
            <a:r>
              <a:rPr lang="en-US" altLang="zh-CN" sz="800" dirty="0"/>
              <a:t>                              </a:t>
            </a:r>
          </a:p>
          <a:p>
            <a:r>
              <a:rPr lang="zh-CN" altLang="en-US" sz="800" dirty="0"/>
              <a:t>    参数 </a:t>
            </a:r>
            <a:r>
              <a:rPr lang="en-US" altLang="zh-CN" sz="800" dirty="0" err="1"/>
              <a:t>implementation_code</a:t>
            </a:r>
            <a:r>
              <a:rPr lang="en-US" altLang="zh-CN" sz="800" dirty="0"/>
              <a:t>:                                  </a:t>
            </a:r>
          </a:p>
          <a:p>
            <a:r>
              <a:rPr lang="en-US" altLang="zh-CN" sz="800" dirty="0"/>
              <a:t>        def </a:t>
            </a:r>
            <a:r>
              <a:rPr lang="en-US" altLang="zh-CN" sz="800" dirty="0" err="1"/>
              <a:t>print_even_index_items</a:t>
            </a:r>
            <a:r>
              <a:rPr lang="en-US" altLang="zh-CN" sz="800" dirty="0"/>
              <a:t>(items):                     </a:t>
            </a:r>
          </a:p>
          <a:p>
            <a:r>
              <a:rPr lang="en-US" altLang="zh-CN" sz="800" dirty="0"/>
              <a:t>          """</a:t>
            </a:r>
            <a:r>
              <a:rPr lang="zh-CN" altLang="en-US" sz="800" dirty="0"/>
              <a:t>打印列表中所有元素的值</a:t>
            </a:r>
            <a:r>
              <a:rPr lang="en-US" altLang="zh-CN" sz="800" dirty="0"/>
              <a:t>"""                                  </a:t>
            </a:r>
          </a:p>
          <a:p>
            <a:r>
              <a:rPr lang="en-US" altLang="zh-CN" sz="800" dirty="0"/>
              <a:t>          for </a:t>
            </a:r>
            <a:r>
              <a:rPr lang="en-US" altLang="zh-CN" sz="800" dirty="0" err="1"/>
              <a:t>i</a:t>
            </a:r>
            <a:r>
              <a:rPr lang="en-US" altLang="zh-CN" sz="800" dirty="0"/>
              <a:t> in range(</a:t>
            </a:r>
            <a:r>
              <a:rPr lang="en-US" altLang="zh-CN" sz="800" dirty="0" err="1"/>
              <a:t>len</a:t>
            </a:r>
            <a:r>
              <a:rPr lang="en-US" altLang="zh-CN" sz="800" dirty="0"/>
              <a:t>(items)):   # </a:t>
            </a:r>
            <a:r>
              <a:rPr lang="zh-CN" altLang="en-US" sz="800" dirty="0"/>
              <a:t>修复：去掉 </a:t>
            </a:r>
            <a:r>
              <a:rPr lang="en-US" altLang="zh-CN" sz="800" dirty="0"/>
              <a:t>+1           </a:t>
            </a:r>
          </a:p>
          <a:p>
            <a:r>
              <a:rPr lang="en-US" altLang="zh-CN" sz="800" dirty="0"/>
              <a:t>                 print(items[</a:t>
            </a:r>
            <a:r>
              <a:rPr lang="en-US" altLang="zh-CN" sz="800" dirty="0" err="1"/>
              <a:t>i</a:t>
            </a:r>
            <a:r>
              <a:rPr lang="en-US" altLang="zh-CN" sz="800" dirty="0"/>
              <a:t>]) </a:t>
            </a:r>
            <a:endParaRPr lang="zh-CN" altLang="en-US" sz="800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CC8D2F18-E76A-9006-E4FA-6E416F0F7C55}"/>
              </a:ext>
            </a:extLst>
          </p:cNvPr>
          <p:cNvSpPr/>
          <p:nvPr/>
        </p:nvSpPr>
        <p:spPr>
          <a:xfrm>
            <a:off x="3542698" y="1326825"/>
            <a:ext cx="1395835" cy="249865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A90908-BB12-E9D3-0C91-EBC86AD1791B}"/>
              </a:ext>
            </a:extLst>
          </p:cNvPr>
          <p:cNvSpPr txBox="1"/>
          <p:nvPr/>
        </p:nvSpPr>
        <p:spPr>
          <a:xfrm>
            <a:off x="587683" y="91356"/>
            <a:ext cx="4792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Prompt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09398E-C4DF-454D-256C-B58D33F19423}"/>
              </a:ext>
            </a:extLst>
          </p:cNvPr>
          <p:cNvSpPr txBox="1"/>
          <p:nvPr/>
        </p:nvSpPr>
        <p:spPr>
          <a:xfrm>
            <a:off x="4552503" y="75818"/>
            <a:ext cx="4832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LLM</a:t>
            </a:r>
            <a:r>
              <a:rPr lang="zh-CN" altLang="en-US" dirty="0"/>
              <a:t>回复</a:t>
            </a:r>
            <a:r>
              <a:rPr lang="en-US" altLang="zh-CN" dirty="0"/>
              <a:t>(</a:t>
            </a:r>
            <a:r>
              <a:rPr lang="zh-CN" altLang="en-US" dirty="0"/>
              <a:t>通过</a:t>
            </a:r>
            <a:r>
              <a:rPr lang="en-US" altLang="zh-CN" dirty="0"/>
              <a:t>few-shot examples</a:t>
            </a:r>
            <a:r>
              <a:rPr lang="zh-CN" altLang="en-US" dirty="0"/>
              <a:t>引导</a:t>
            </a:r>
            <a:r>
              <a:rPr lang="en-US" altLang="zh-CN" dirty="0"/>
              <a:t>LLM</a:t>
            </a:r>
            <a:r>
              <a:rPr lang="zh-CN" altLang="en-US" dirty="0"/>
              <a:t>学习调用工具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48B2DF25-EC08-F973-5089-2DE43C4AC375}"/>
              </a:ext>
            </a:extLst>
          </p:cNvPr>
          <p:cNvSpPr/>
          <p:nvPr/>
        </p:nvSpPr>
        <p:spPr>
          <a:xfrm>
            <a:off x="4852880" y="3595893"/>
            <a:ext cx="3875568" cy="121801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/>
              <a:t>[Observation] </a:t>
            </a:r>
            <a:r>
              <a:rPr lang="zh-CN" altLang="en-US" sz="800" dirty="0"/>
              <a:t>                                             </a:t>
            </a:r>
            <a:endParaRPr lang="en-US" altLang="zh-CN" sz="800" dirty="0"/>
          </a:p>
          <a:p>
            <a:r>
              <a:rPr lang="en-US" altLang="zh-CN" sz="800" dirty="0" err="1"/>
              <a:t>cachedir</a:t>
            </a:r>
            <a:r>
              <a:rPr lang="en-US" altLang="zh-CN" sz="800" dirty="0"/>
              <a:t>: .</a:t>
            </a:r>
            <a:r>
              <a:rPr lang="en-US" altLang="zh-CN" sz="800" dirty="0" err="1"/>
              <a:t>pytest_cache</a:t>
            </a:r>
            <a:r>
              <a:rPr lang="en-US" altLang="zh-CN" sz="800" dirty="0"/>
              <a:t>                                    </a:t>
            </a:r>
          </a:p>
          <a:p>
            <a:r>
              <a:rPr lang="en-US" altLang="zh-CN" sz="800" dirty="0" err="1"/>
              <a:t>rootdir</a:t>
            </a:r>
            <a:r>
              <a:rPr lang="en-US" altLang="zh-CN" sz="800" dirty="0"/>
              <a:t>: C:\Users\10191\AppData\Local\Temp\pytest_3fq_s8b7 </a:t>
            </a:r>
          </a:p>
          <a:p>
            <a:r>
              <a:rPr lang="en-US" altLang="zh-CN" sz="800" dirty="0"/>
              <a:t>plugins: anyio-3.5.0, langsmith-0.8.4                      </a:t>
            </a:r>
          </a:p>
          <a:p>
            <a:r>
              <a:rPr lang="en-US" altLang="zh-CN" sz="800" dirty="0"/>
              <a:t>collecting ... collected 3 items                                                                                   </a:t>
            </a:r>
          </a:p>
          <a:p>
            <a:r>
              <a:rPr lang="en-US" altLang="zh-CN" sz="800" dirty="0"/>
              <a:t>test_code.py::</a:t>
            </a:r>
            <a:r>
              <a:rPr lang="en-US" altLang="zh-CN" sz="800" dirty="0" err="1"/>
              <a:t>test_normal_list</a:t>
            </a:r>
            <a:r>
              <a:rPr lang="en-US" altLang="zh-CN" sz="800" dirty="0"/>
              <a:t> PASSED                                    [ 33%]</a:t>
            </a:r>
          </a:p>
          <a:p>
            <a:r>
              <a:rPr lang="en-US" altLang="zh-CN" sz="800" dirty="0"/>
              <a:t>test_code.py::</a:t>
            </a:r>
            <a:r>
              <a:rPr lang="en-US" altLang="zh-CN" sz="800" dirty="0" err="1"/>
              <a:t>test_empty_list</a:t>
            </a:r>
            <a:r>
              <a:rPr lang="en-US" altLang="zh-CN" sz="800" dirty="0"/>
              <a:t> PASSED                                     [ 66%]</a:t>
            </a:r>
          </a:p>
          <a:p>
            <a:r>
              <a:rPr lang="en-US" altLang="zh-CN" sz="800" dirty="0"/>
              <a:t>test_code.py::</a:t>
            </a:r>
            <a:r>
              <a:rPr lang="en-US" altLang="zh-CN" sz="800" dirty="0" err="1"/>
              <a:t>test_single_item</a:t>
            </a:r>
            <a:r>
              <a:rPr lang="en-US" altLang="zh-CN" sz="800" dirty="0"/>
              <a:t> PASSED                                   [100%]</a:t>
            </a:r>
          </a:p>
          <a:p>
            <a:r>
              <a:rPr lang="zh-CN" altLang="en-US" sz="800" dirty="0"/>
              <a:t>测试全部通过</a:t>
            </a:r>
            <a:endParaRPr lang="en-US" altLang="zh-CN" sz="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B7EE4A-8207-3ACB-8F93-53A07CC26FE3}"/>
              </a:ext>
            </a:extLst>
          </p:cNvPr>
          <p:cNvSpPr/>
          <p:nvPr/>
        </p:nvSpPr>
        <p:spPr>
          <a:xfrm>
            <a:off x="5033306" y="1924493"/>
            <a:ext cx="2296632" cy="831206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223CB008-7BA8-B6AE-CF99-E254AF67E324}"/>
              </a:ext>
            </a:extLst>
          </p:cNvPr>
          <p:cNvSpPr/>
          <p:nvPr/>
        </p:nvSpPr>
        <p:spPr>
          <a:xfrm>
            <a:off x="3904482" y="2571750"/>
            <a:ext cx="1128824" cy="446569"/>
          </a:xfrm>
          <a:prstGeom prst="wedgeRectCallout">
            <a:avLst>
              <a:gd name="adj1" fmla="val 52636"/>
              <a:gd name="adj2" fmla="val -10297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正则匹配工具和参数</a:t>
            </a:r>
          </a:p>
        </p:txBody>
      </p:sp>
      <p:sp>
        <p:nvSpPr>
          <p:cNvPr id="14" name="流程图: 可选过程 13">
            <a:extLst>
              <a:ext uri="{FF2B5EF4-FFF2-40B4-BE49-F238E27FC236}">
                <a16:creationId xmlns:a16="http://schemas.microsoft.com/office/drawing/2014/main" id="{F24AB6BB-FF5C-7402-A98E-B744CD0C806C}"/>
              </a:ext>
            </a:extLst>
          </p:cNvPr>
          <p:cNvSpPr/>
          <p:nvPr/>
        </p:nvSpPr>
        <p:spPr>
          <a:xfrm>
            <a:off x="5494374" y="2936815"/>
            <a:ext cx="3122432" cy="43132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系统执行相应工具</a:t>
            </a:r>
          </a:p>
        </p:txBody>
      </p:sp>
      <p:sp>
        <p:nvSpPr>
          <p:cNvPr id="17" name="流程图: 可选过程 16">
            <a:extLst>
              <a:ext uri="{FF2B5EF4-FFF2-40B4-BE49-F238E27FC236}">
                <a16:creationId xmlns:a16="http://schemas.microsoft.com/office/drawing/2014/main" id="{BEF1DD8C-CC37-B13C-6DB8-993952AE3036}"/>
              </a:ext>
            </a:extLst>
          </p:cNvPr>
          <p:cNvSpPr/>
          <p:nvPr/>
        </p:nvSpPr>
        <p:spPr>
          <a:xfrm>
            <a:off x="3891516" y="755775"/>
            <a:ext cx="660987" cy="562937"/>
          </a:xfrm>
          <a:prstGeom prst="flowChartAlternateProcess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LLM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79EE479-AEDC-3103-9AEE-632008017F1A}"/>
              </a:ext>
            </a:extLst>
          </p:cNvPr>
          <p:cNvSpPr/>
          <p:nvPr/>
        </p:nvSpPr>
        <p:spPr>
          <a:xfrm rot="5400000">
            <a:off x="7484974" y="3316525"/>
            <a:ext cx="431323" cy="249865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76AAD567-988B-D164-FAE9-0EC19DC9C349}"/>
              </a:ext>
            </a:extLst>
          </p:cNvPr>
          <p:cNvSpPr/>
          <p:nvPr/>
        </p:nvSpPr>
        <p:spPr>
          <a:xfrm rot="5400000">
            <a:off x="7543949" y="2710899"/>
            <a:ext cx="313370" cy="249865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Google Shape;187;p26">
            <a:extLst>
              <a:ext uri="{FF2B5EF4-FFF2-40B4-BE49-F238E27FC236}">
                <a16:creationId xmlns:a16="http://schemas.microsoft.com/office/drawing/2014/main" id="{D88DA4D8-EE12-F547-5DFA-51FBC1A4B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3766" y="3444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</a:t>
            </a:r>
            <a:r>
              <a:rPr lang="en-US" altLang="zh-CN" dirty="0"/>
              <a:t>unction Call</a:t>
            </a:r>
            <a:endParaRPr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75AE76-D962-5E21-8E1B-4893E1BFEE12}"/>
              </a:ext>
            </a:extLst>
          </p:cNvPr>
          <p:cNvSpPr txBox="1"/>
          <p:nvPr/>
        </p:nvSpPr>
        <p:spPr>
          <a:xfrm>
            <a:off x="42530" y="4467518"/>
            <a:ext cx="476870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Yao S, Zhao J, Yu D, et al.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Synergizing Reasoning and Acting in Language Models[C]//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NeurIPS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2022 Foundation Models for Decision Making Workshop.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77106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Retrieval Augmented Generation</a:t>
            </a:r>
            <a:endParaRPr dirty="0"/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向</a:t>
            </a:r>
            <a:r>
              <a:rPr lang="en-US" altLang="zh-CN" dirty="0"/>
              <a:t>LLM</a:t>
            </a:r>
            <a:r>
              <a:rPr lang="zh-CN" altLang="en-US" dirty="0"/>
              <a:t>注入上下文数据</a:t>
            </a:r>
          </a:p>
          <a:p>
            <a:pPr lvl="0"/>
            <a:r>
              <a:rPr lang="zh-CN" altLang="en-US" dirty="0"/>
              <a:t>无需重新训练即可让模型保持最新知识</a:t>
            </a:r>
            <a:endParaRPr lang="en-US" altLang="zh-CN" dirty="0"/>
          </a:p>
          <a:p>
            <a:pPr lvl="1"/>
            <a:r>
              <a:rPr lang="en-US" altLang="zh-CN" dirty="0"/>
              <a:t>RAG</a:t>
            </a:r>
            <a:r>
              <a:rPr lang="zh-CN" altLang="en-US" dirty="0"/>
              <a:t>是一种混合架构：先根据用户查询检索相关文档（如代码库、</a:t>
            </a:r>
            <a:r>
              <a:rPr lang="en-US" altLang="zh-CN" dirty="0"/>
              <a:t>API</a:t>
            </a:r>
            <a:r>
              <a:rPr lang="zh-CN" altLang="en-US" dirty="0"/>
              <a:t>文档、公司内部知识库），然后将检索到的内容与原始问题一起送给</a:t>
            </a:r>
            <a:r>
              <a:rPr lang="en-US" altLang="zh-CN" dirty="0"/>
              <a:t>LLM</a:t>
            </a:r>
            <a:r>
              <a:rPr lang="zh-CN" altLang="en-US" dirty="0"/>
              <a:t>生成答案。</a:t>
            </a:r>
          </a:p>
        </p:txBody>
      </p:sp>
      <p:sp>
        <p:nvSpPr>
          <p:cNvPr id="209" name="Google Shape;20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B67E291-707C-2B90-01F3-5520FC49C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60"/>
            <a:ext cx="9144000" cy="345989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2E03A6A-B9AD-037A-07AE-D8A9E24B9D88}"/>
              </a:ext>
            </a:extLst>
          </p:cNvPr>
          <p:cNvSpPr/>
          <p:nvPr/>
        </p:nvSpPr>
        <p:spPr>
          <a:xfrm>
            <a:off x="3551274" y="143539"/>
            <a:ext cx="1307805" cy="290268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6A2B10-2F48-2148-AC96-A6F152FF9B7A}"/>
              </a:ext>
            </a:extLst>
          </p:cNvPr>
          <p:cNvSpPr txBox="1"/>
          <p:nvPr/>
        </p:nvSpPr>
        <p:spPr>
          <a:xfrm>
            <a:off x="74428" y="3558244"/>
            <a:ext cx="62572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RepoScope</a:t>
            </a:r>
            <a:r>
              <a:rPr lang="en-US" altLang="zh-CN" sz="1100" dirty="0"/>
              <a:t> </a:t>
            </a:r>
            <a:r>
              <a:rPr lang="zh-CN" altLang="en-US" sz="1100" dirty="0"/>
              <a:t>为目标函数检索 四种上下文，形成多视角信息：</a:t>
            </a:r>
          </a:p>
          <a:p>
            <a:r>
              <a:rPr lang="zh-CN" altLang="en-US" sz="1100" dirty="0"/>
              <a:t>调用者（</a:t>
            </a:r>
            <a:r>
              <a:rPr lang="en-US" altLang="zh-CN" sz="1100" dirty="0"/>
              <a:t>Callers</a:t>
            </a:r>
            <a:r>
              <a:rPr lang="zh-CN" altLang="en-US" sz="1100" dirty="0"/>
              <a:t>）：哪些函数调用了目标函数（提供使用意图）</a:t>
            </a:r>
          </a:p>
          <a:p>
            <a:r>
              <a:rPr lang="zh-CN" altLang="en-US" sz="1100" dirty="0"/>
              <a:t>预测的被调用者（</a:t>
            </a:r>
            <a:r>
              <a:rPr lang="en-US" altLang="zh-CN" sz="1100" dirty="0"/>
              <a:t>Predicted Callees</a:t>
            </a:r>
            <a:r>
              <a:rPr lang="zh-CN" altLang="en-US" sz="1100" dirty="0"/>
              <a:t>）：目标函数可能会调用哪些函数或类</a:t>
            </a:r>
          </a:p>
          <a:p>
            <a:r>
              <a:rPr lang="zh-CN" altLang="en-US" sz="1100" dirty="0"/>
              <a:t>相似函数（</a:t>
            </a:r>
            <a:r>
              <a:rPr lang="en-US" altLang="zh-CN" sz="1100" dirty="0"/>
              <a:t>Similar Functions</a:t>
            </a:r>
            <a:r>
              <a:rPr lang="zh-CN" altLang="en-US" sz="1100" dirty="0"/>
              <a:t>）：与目标函数语义相似的其他函数</a:t>
            </a:r>
          </a:p>
          <a:p>
            <a:r>
              <a:rPr lang="zh-CN" altLang="en-US" sz="1100" dirty="0"/>
              <a:t>相似代码片段（</a:t>
            </a:r>
            <a:r>
              <a:rPr lang="en-US" altLang="zh-CN" sz="1100" dirty="0"/>
              <a:t>Similar Code Fragments</a:t>
            </a:r>
            <a:r>
              <a:rPr lang="zh-CN" altLang="en-US" sz="1100" dirty="0"/>
              <a:t>）：非函数级别的相似代码块</a:t>
            </a:r>
          </a:p>
          <a:p>
            <a:r>
              <a:rPr lang="zh-CN" altLang="en-US" sz="1100" dirty="0"/>
              <a:t>这些上下文共同提供了丰富的仓库背景知识，弥补了相似性检索的不足。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98DE274-E3F9-EA8A-644D-61BC47B26B19}"/>
              </a:ext>
            </a:extLst>
          </p:cNvPr>
          <p:cNvCxnSpPr/>
          <p:nvPr/>
        </p:nvCxnSpPr>
        <p:spPr>
          <a:xfrm flipV="1">
            <a:off x="2307265" y="3046228"/>
            <a:ext cx="1244009" cy="489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2EE6443-7600-9E42-E3B0-C2FB2C15ACD2}"/>
              </a:ext>
            </a:extLst>
          </p:cNvPr>
          <p:cNvSpPr txBox="1"/>
          <p:nvPr/>
        </p:nvSpPr>
        <p:spPr>
          <a:xfrm>
            <a:off x="-63795" y="4869156"/>
            <a:ext cx="96809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Liu Y, Zhang L, Liu F, et al. </a:t>
            </a:r>
            <a:r>
              <a:rPr lang="en-US" altLang="zh-CN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RepoScope</a:t>
            </a:r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Leveraging Call Chain-Aware Multi-View Context for Repository-Level Code Generation. ICSE2026.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45790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EB17AC-BD85-B6D7-F98E-2CDA8E56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985"/>
            <a:ext cx="9144000" cy="3947353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EBCF52-08A9-D524-59C3-6536ED3BD383}"/>
              </a:ext>
            </a:extLst>
          </p:cNvPr>
          <p:cNvSpPr/>
          <p:nvPr/>
        </p:nvSpPr>
        <p:spPr>
          <a:xfrm>
            <a:off x="85062" y="2073349"/>
            <a:ext cx="1121734" cy="6539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仅检索仓库内相似的代码片段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6F0CDB6-6386-3061-FE4E-3F374E00AFFA}"/>
              </a:ext>
            </a:extLst>
          </p:cNvPr>
          <p:cNvCxnSpPr/>
          <p:nvPr/>
        </p:nvCxnSpPr>
        <p:spPr>
          <a:xfrm flipV="1">
            <a:off x="1068572" y="1451344"/>
            <a:ext cx="776177" cy="62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2D6FAEF-8977-07CB-CE3E-789C1DDAA9A9}"/>
              </a:ext>
            </a:extLst>
          </p:cNvPr>
          <p:cNvCxnSpPr/>
          <p:nvPr/>
        </p:nvCxnSpPr>
        <p:spPr>
          <a:xfrm flipV="1">
            <a:off x="1148316" y="1610833"/>
            <a:ext cx="712382" cy="462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919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Reflexion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让</a:t>
            </a:r>
            <a:r>
              <a:rPr lang="en-US" altLang="zh-CN" dirty="0"/>
              <a:t>LLM</a:t>
            </a:r>
            <a:r>
              <a:rPr lang="zh-CN" altLang="en-US" dirty="0"/>
              <a:t>反思自己的输出</a:t>
            </a:r>
          </a:p>
          <a:p>
            <a:pPr lvl="0"/>
            <a:r>
              <a:rPr lang="zh-CN" altLang="en-US" dirty="0"/>
              <a:t>将环境反馈重新融入上下文</a:t>
            </a:r>
          </a:p>
          <a:p>
            <a:pPr lvl="0"/>
            <a:r>
              <a:rPr lang="zh-CN" altLang="en-US" dirty="0"/>
              <a:t>多轮交互：“现在评价你的答案。是否正确？如果不正确，解释原因并重试。”</a:t>
            </a:r>
            <a:endParaRPr dirty="0"/>
          </a:p>
        </p:txBody>
      </p:sp>
      <p:sp>
        <p:nvSpPr>
          <p:cNvPr id="229" name="Google Shape;229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可选过程 3">
            <a:extLst>
              <a:ext uri="{FF2B5EF4-FFF2-40B4-BE49-F238E27FC236}">
                <a16:creationId xmlns:a16="http://schemas.microsoft.com/office/drawing/2014/main" id="{AB19FCC2-0F53-1213-52E0-BBB77F45C923}"/>
              </a:ext>
            </a:extLst>
          </p:cNvPr>
          <p:cNvSpPr/>
          <p:nvPr/>
        </p:nvSpPr>
        <p:spPr>
          <a:xfrm>
            <a:off x="265812" y="361508"/>
            <a:ext cx="4082903" cy="80275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/>
              <a:t>编写一个函数 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</a:t>
            </a:r>
            <a:r>
              <a:rPr lang="en-US" altLang="zh-CN" sz="1100" dirty="0" err="1"/>
              <a:t>nums</a:t>
            </a:r>
            <a:r>
              <a:rPr lang="en-US" altLang="zh-CN" sz="1100" dirty="0"/>
              <a:t>)</a:t>
            </a:r>
            <a:r>
              <a:rPr lang="zh-CN" altLang="en-US" sz="1100" dirty="0"/>
              <a:t>，输入一个整数列表 </a:t>
            </a:r>
            <a:r>
              <a:rPr lang="en-US" altLang="zh-CN" sz="1100" dirty="0" err="1"/>
              <a:t>nums</a:t>
            </a:r>
            <a:r>
              <a:rPr lang="zh-CN" altLang="en-US" sz="1100" dirty="0"/>
              <a:t>，返回其中连续子数组的最小和（允许子数组长度为</a:t>
            </a:r>
            <a:r>
              <a:rPr lang="en-US" altLang="zh-CN" sz="1100" dirty="0"/>
              <a:t>1</a:t>
            </a:r>
            <a:r>
              <a:rPr lang="zh-CN" altLang="en-US" sz="1100" dirty="0"/>
              <a:t>）。</a:t>
            </a:r>
            <a:endParaRPr lang="en-US" altLang="zh-CN" sz="1100" dirty="0"/>
          </a:p>
          <a:p>
            <a:r>
              <a:rPr lang="zh-CN" altLang="en-US" sz="1100" dirty="0"/>
              <a:t>测试用例</a:t>
            </a:r>
            <a:r>
              <a:rPr lang="en-US" altLang="zh-CN" sz="1100" dirty="0"/>
              <a:t>1</a:t>
            </a:r>
            <a:r>
              <a:rPr lang="zh-CN" altLang="en-US" sz="1100" dirty="0"/>
              <a:t>：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([1, -2, 3, -1, 2]) ==-2</a:t>
            </a:r>
          </a:p>
          <a:p>
            <a:r>
              <a:rPr lang="zh-CN" altLang="en-US" sz="1100" dirty="0"/>
              <a:t>测试用例</a:t>
            </a:r>
            <a:r>
              <a:rPr lang="en-US" altLang="zh-CN" sz="1100" dirty="0"/>
              <a:t>2</a:t>
            </a:r>
            <a:r>
              <a:rPr lang="zh-CN" altLang="en-US" sz="1100" dirty="0"/>
              <a:t>：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([-1, -2, -3]) ==-6</a:t>
            </a:r>
            <a:endParaRPr lang="zh-CN" altLang="en-US" sz="1100" dirty="0"/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1ABF0CB0-6314-5812-8EC0-5885E6BEBC21}"/>
              </a:ext>
            </a:extLst>
          </p:cNvPr>
          <p:cNvSpPr/>
          <p:nvPr/>
        </p:nvSpPr>
        <p:spPr>
          <a:xfrm>
            <a:off x="265811" y="1534633"/>
            <a:ext cx="2849529" cy="125109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/>
              <a:t>def 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</a:t>
            </a:r>
            <a:r>
              <a:rPr lang="en-US" altLang="zh-CN" sz="1100" dirty="0" err="1"/>
              <a:t>nums</a:t>
            </a:r>
            <a:r>
              <a:rPr lang="en-US" altLang="zh-CN" sz="1100" dirty="0"/>
              <a:t>):</a:t>
            </a:r>
          </a:p>
          <a:p>
            <a:r>
              <a:rPr lang="en-US" altLang="zh-CN" sz="1100" dirty="0"/>
              <a:t>    </a:t>
            </a:r>
            <a:r>
              <a:rPr lang="en-US" altLang="zh-CN" sz="1100" dirty="0" err="1"/>
              <a:t>cur_sum</a:t>
            </a:r>
            <a:r>
              <a:rPr lang="en-US" altLang="zh-CN" sz="1100" dirty="0"/>
              <a:t> = 0</a:t>
            </a:r>
          </a:p>
          <a:p>
            <a:r>
              <a:rPr lang="en-US" altLang="zh-CN" sz="1100" dirty="0"/>
              <a:t>    </a:t>
            </a:r>
            <a:r>
              <a:rPr lang="en-US" altLang="zh-CN" sz="1100" dirty="0" err="1"/>
              <a:t>min_sum</a:t>
            </a:r>
            <a:r>
              <a:rPr lang="en-US" altLang="zh-CN" sz="1100" dirty="0"/>
              <a:t> = 0</a:t>
            </a:r>
          </a:p>
          <a:p>
            <a:r>
              <a:rPr lang="en-US" altLang="zh-CN" sz="1100" dirty="0"/>
              <a:t>    for x in </a:t>
            </a:r>
            <a:r>
              <a:rPr lang="en-US" altLang="zh-CN" sz="1100" dirty="0" err="1"/>
              <a:t>nums</a:t>
            </a:r>
            <a:r>
              <a:rPr lang="en-US" altLang="zh-CN" sz="1100" dirty="0"/>
              <a:t>:</a:t>
            </a:r>
          </a:p>
          <a:p>
            <a:r>
              <a:rPr lang="en-US" altLang="zh-CN" sz="1100" dirty="0"/>
              <a:t>        </a:t>
            </a:r>
            <a:r>
              <a:rPr lang="en-US" altLang="zh-CN" sz="1100" dirty="0" err="1"/>
              <a:t>cur_sum</a:t>
            </a:r>
            <a:r>
              <a:rPr lang="en-US" altLang="zh-CN" sz="1100" dirty="0"/>
              <a:t> = min(x, </a:t>
            </a:r>
            <a:r>
              <a:rPr lang="en-US" altLang="zh-CN" sz="1100" dirty="0" err="1"/>
              <a:t>cur_sum</a:t>
            </a:r>
            <a:r>
              <a:rPr lang="en-US" altLang="zh-CN" sz="1100" dirty="0"/>
              <a:t> + x)</a:t>
            </a:r>
          </a:p>
          <a:p>
            <a:r>
              <a:rPr lang="en-US" altLang="zh-CN" sz="1100" dirty="0"/>
              <a:t>        </a:t>
            </a:r>
            <a:r>
              <a:rPr lang="en-US" altLang="zh-CN" sz="1100" dirty="0" err="1"/>
              <a:t>min_sum</a:t>
            </a:r>
            <a:r>
              <a:rPr lang="en-US" altLang="zh-CN" sz="1100" dirty="0"/>
              <a:t> = min(</a:t>
            </a:r>
            <a:r>
              <a:rPr lang="en-US" altLang="zh-CN" sz="1100" dirty="0" err="1"/>
              <a:t>min_sum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cur_sum</a:t>
            </a:r>
            <a:r>
              <a:rPr lang="en-US" altLang="zh-CN" sz="1100" dirty="0"/>
              <a:t>)</a:t>
            </a:r>
          </a:p>
          <a:p>
            <a:r>
              <a:rPr lang="en-US" altLang="zh-CN" sz="1100" dirty="0"/>
              <a:t>    return </a:t>
            </a:r>
            <a:r>
              <a:rPr lang="en-US" altLang="zh-CN" sz="1100" dirty="0" err="1"/>
              <a:t>min_sum</a:t>
            </a:r>
            <a:endParaRPr lang="zh-CN" altLang="en-US" sz="1100" dirty="0"/>
          </a:p>
        </p:txBody>
      </p:sp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C2D58334-8B4A-0019-76F9-EA1D312A8329}"/>
              </a:ext>
            </a:extLst>
          </p:cNvPr>
          <p:cNvSpPr/>
          <p:nvPr/>
        </p:nvSpPr>
        <p:spPr>
          <a:xfrm>
            <a:off x="265810" y="3156097"/>
            <a:ext cx="3827725" cy="306572"/>
          </a:xfrm>
          <a:prstGeom prst="flowChartAlternate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/>
              <a:t>Test Failed: input [1, -2, 3, -1, 2] -&gt; got 0, expected -2</a:t>
            </a:r>
            <a:endParaRPr lang="zh-CN" altLang="en-US" sz="1100" dirty="0"/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42CCF340-CB0D-8E35-6AA7-9420E4B9096C}"/>
              </a:ext>
            </a:extLst>
          </p:cNvPr>
          <p:cNvSpPr/>
          <p:nvPr/>
        </p:nvSpPr>
        <p:spPr>
          <a:xfrm>
            <a:off x="5089452" y="3780441"/>
            <a:ext cx="3866710" cy="125109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/>
              <a:t>我的代码使用了 </a:t>
            </a:r>
            <a:r>
              <a:rPr lang="en-US" altLang="zh-CN" sz="1100" dirty="0" err="1"/>
              <a:t>Kadane</a:t>
            </a:r>
            <a:r>
              <a:rPr lang="en-US" altLang="zh-CN" sz="1100" dirty="0"/>
              <a:t> </a:t>
            </a:r>
            <a:r>
              <a:rPr lang="zh-CN" altLang="en-US" sz="1100" dirty="0"/>
              <a:t>算法的变体，但初始值 </a:t>
            </a:r>
            <a:r>
              <a:rPr lang="en-US" altLang="zh-CN" sz="1100" dirty="0" err="1"/>
              <a:t>min_sum</a:t>
            </a:r>
            <a:r>
              <a:rPr lang="en-US" altLang="zh-CN" sz="1100" dirty="0"/>
              <a:t> = 0 </a:t>
            </a:r>
            <a:r>
              <a:rPr lang="zh-CN" altLang="en-US" sz="1100" dirty="0"/>
              <a:t>是错误的。当所有子数组和都小于 </a:t>
            </a:r>
            <a:r>
              <a:rPr lang="en-US" altLang="zh-CN" sz="1100" dirty="0"/>
              <a:t>0 </a:t>
            </a:r>
            <a:r>
              <a:rPr lang="zh-CN" altLang="en-US" sz="1100" dirty="0"/>
              <a:t>时，最小和应该是一个负数，但我的函数返回 </a:t>
            </a:r>
            <a:r>
              <a:rPr lang="en-US" altLang="zh-CN" sz="1100" dirty="0"/>
              <a:t>0</a:t>
            </a:r>
            <a:r>
              <a:rPr lang="zh-CN" altLang="en-US" sz="1100" dirty="0"/>
              <a:t>。正确的做法是将 </a:t>
            </a:r>
            <a:r>
              <a:rPr lang="en-US" altLang="zh-CN" sz="1100" dirty="0" err="1"/>
              <a:t>min_sum</a:t>
            </a:r>
            <a:r>
              <a:rPr lang="en-US" altLang="zh-CN" sz="1100" dirty="0"/>
              <a:t> </a:t>
            </a:r>
            <a:r>
              <a:rPr lang="zh-CN" altLang="en-US" sz="1100" dirty="0"/>
              <a:t>初始化为第一个元素的值，或者使用 </a:t>
            </a:r>
            <a:r>
              <a:rPr lang="en-US" altLang="zh-CN" sz="1100" dirty="0"/>
              <a:t>float('inf') </a:t>
            </a:r>
            <a:r>
              <a:rPr lang="zh-CN" altLang="en-US" sz="1100" dirty="0"/>
              <a:t>的负数。此外，我需要保证算法能正确处理全正数组（此时最小子数组和是单个最小值）。下次我会重写逻辑，显式计算所有子数组和或改进动态规划。</a:t>
            </a:r>
          </a:p>
        </p:txBody>
      </p:sp>
      <p:sp>
        <p:nvSpPr>
          <p:cNvPr id="8" name="流程图: 可选过程 7">
            <a:extLst>
              <a:ext uri="{FF2B5EF4-FFF2-40B4-BE49-F238E27FC236}">
                <a16:creationId xmlns:a16="http://schemas.microsoft.com/office/drawing/2014/main" id="{92C01605-B63E-1A3D-CA19-EFB5F0482E05}"/>
              </a:ext>
            </a:extLst>
          </p:cNvPr>
          <p:cNvSpPr/>
          <p:nvPr/>
        </p:nvSpPr>
        <p:spPr>
          <a:xfrm>
            <a:off x="5134635" y="1646522"/>
            <a:ext cx="2821175" cy="159311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/>
              <a:t>def min_subarray_sum(nums):</a:t>
            </a:r>
          </a:p>
          <a:p>
            <a:r>
              <a:rPr lang="en-US" altLang="zh-CN" sz="1100"/>
              <a:t>    if not nums:</a:t>
            </a:r>
          </a:p>
          <a:p>
            <a:r>
              <a:rPr lang="en-US" altLang="zh-CN" sz="1100"/>
              <a:t>        return 0</a:t>
            </a:r>
          </a:p>
          <a:p>
            <a:r>
              <a:rPr lang="en-US" altLang="zh-CN" sz="1100"/>
              <a:t>    min_sum = nums[0]</a:t>
            </a:r>
          </a:p>
          <a:p>
            <a:r>
              <a:rPr lang="en-US" altLang="zh-CN" sz="1100"/>
              <a:t>    cur_sum = nums[0]</a:t>
            </a:r>
          </a:p>
          <a:p>
            <a:r>
              <a:rPr lang="en-US" altLang="zh-CN" sz="1100"/>
              <a:t>    for x in nums[1:]:</a:t>
            </a:r>
          </a:p>
          <a:p>
            <a:r>
              <a:rPr lang="en-US" altLang="zh-CN" sz="1100"/>
              <a:t>        cur_sum = min(x, cur_sum + x)</a:t>
            </a:r>
          </a:p>
          <a:p>
            <a:r>
              <a:rPr lang="en-US" altLang="zh-CN" sz="1100"/>
              <a:t>        min_sum = min(min_sum, cur_sum)</a:t>
            </a:r>
          </a:p>
          <a:p>
            <a:r>
              <a:rPr lang="en-US" altLang="zh-CN" sz="1100"/>
              <a:t>    return min_sum</a:t>
            </a:r>
            <a:endParaRPr lang="zh-CN" altLang="en-US" sz="1100" dirty="0"/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18D94EC0-82E1-068F-286F-8EDB3628F5E0}"/>
              </a:ext>
            </a:extLst>
          </p:cNvPr>
          <p:cNvSpPr/>
          <p:nvPr/>
        </p:nvSpPr>
        <p:spPr>
          <a:xfrm>
            <a:off x="5124002" y="378343"/>
            <a:ext cx="3827725" cy="861238"/>
          </a:xfrm>
          <a:prstGeom prst="flowChartAlternateProcess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/>
              <a:t>Test 1: 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([1, -2, 3, -1, 2]) -&gt; -2 ✅</a:t>
            </a:r>
          </a:p>
          <a:p>
            <a:r>
              <a:rPr lang="en-US" altLang="zh-CN" sz="1100" dirty="0"/>
              <a:t>Test 2: 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([-1, -2, -3]) -&gt; -6 ✅</a:t>
            </a:r>
          </a:p>
          <a:p>
            <a:r>
              <a:rPr lang="en-US" altLang="zh-CN" sz="1100" dirty="0"/>
              <a:t>Test 3: </a:t>
            </a:r>
            <a:r>
              <a:rPr lang="en-US" altLang="zh-CN" sz="1100" dirty="0" err="1"/>
              <a:t>min_subarray_sum</a:t>
            </a:r>
            <a:r>
              <a:rPr lang="en-US" altLang="zh-CN" sz="1100" dirty="0"/>
              <a:t>([5, 4, 3]) -&gt; 3 ✅</a:t>
            </a:r>
            <a:endParaRPr lang="zh-CN" altLang="en-US" sz="1100" dirty="0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6728FD32-EA73-4F0F-FFAF-106461961211}"/>
              </a:ext>
            </a:extLst>
          </p:cNvPr>
          <p:cNvSpPr/>
          <p:nvPr/>
        </p:nvSpPr>
        <p:spPr>
          <a:xfrm>
            <a:off x="1858040" y="1241052"/>
            <a:ext cx="388088" cy="2551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88691CDF-A02B-5ECE-D93D-268D8790F5CD}"/>
              </a:ext>
            </a:extLst>
          </p:cNvPr>
          <p:cNvSpPr/>
          <p:nvPr/>
        </p:nvSpPr>
        <p:spPr>
          <a:xfrm>
            <a:off x="1858040" y="2856614"/>
            <a:ext cx="388088" cy="2551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83B44D-A1C7-6BAC-7925-71A921D46CA7}"/>
              </a:ext>
            </a:extLst>
          </p:cNvPr>
          <p:cNvSpPr txBox="1"/>
          <p:nvPr/>
        </p:nvSpPr>
        <p:spPr>
          <a:xfrm>
            <a:off x="265812" y="66738"/>
            <a:ext cx="1499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Initial Prompt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8CE415-9B9B-73A6-B998-CB1F7EB4A971}"/>
              </a:ext>
            </a:extLst>
          </p:cNvPr>
          <p:cNvSpPr txBox="1"/>
          <p:nvPr/>
        </p:nvSpPr>
        <p:spPr>
          <a:xfrm>
            <a:off x="226825" y="1241052"/>
            <a:ext cx="1538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Model Output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864834-A2A6-A93C-7F63-81816191D9E3}"/>
              </a:ext>
            </a:extLst>
          </p:cNvPr>
          <p:cNvSpPr txBox="1"/>
          <p:nvPr/>
        </p:nvSpPr>
        <p:spPr>
          <a:xfrm>
            <a:off x="192273" y="2856614"/>
            <a:ext cx="1538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Testing Results</a:t>
            </a:r>
            <a:endParaRPr lang="zh-CN" altLang="en-US" dirty="0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A509574A-7395-D381-43ED-DE1234F7255F}"/>
              </a:ext>
            </a:extLst>
          </p:cNvPr>
          <p:cNvSpPr/>
          <p:nvPr/>
        </p:nvSpPr>
        <p:spPr>
          <a:xfrm rot="10800000">
            <a:off x="6726863" y="3392530"/>
            <a:ext cx="388088" cy="3077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4D9C5C-697A-6A5A-0373-58E32A109420}"/>
              </a:ext>
            </a:extLst>
          </p:cNvPr>
          <p:cNvSpPr txBox="1"/>
          <p:nvPr/>
        </p:nvSpPr>
        <p:spPr>
          <a:xfrm>
            <a:off x="5050467" y="3473656"/>
            <a:ext cx="1538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Model Reflection</a:t>
            </a:r>
            <a:endParaRPr lang="zh-CN" altLang="en-US" dirty="0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C4535F43-7AEB-12B0-6726-8C3C962CA54B}"/>
              </a:ext>
            </a:extLst>
          </p:cNvPr>
          <p:cNvSpPr/>
          <p:nvPr/>
        </p:nvSpPr>
        <p:spPr>
          <a:xfrm rot="16200000">
            <a:off x="4416942" y="4022971"/>
            <a:ext cx="388088" cy="5599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6725F9-821A-2809-7D08-EDE89CAF158D}"/>
              </a:ext>
            </a:extLst>
          </p:cNvPr>
          <p:cNvSpPr txBox="1"/>
          <p:nvPr/>
        </p:nvSpPr>
        <p:spPr>
          <a:xfrm>
            <a:off x="5124001" y="1338745"/>
            <a:ext cx="1538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Model Output</a:t>
            </a:r>
            <a:endParaRPr lang="zh-CN" altLang="en-US" dirty="0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551B3BBC-A3B0-B031-AC74-31AF4174B441}"/>
              </a:ext>
            </a:extLst>
          </p:cNvPr>
          <p:cNvSpPr/>
          <p:nvPr/>
        </p:nvSpPr>
        <p:spPr>
          <a:xfrm rot="10800000">
            <a:off x="6726863" y="1327298"/>
            <a:ext cx="388088" cy="2551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8FE12B-84E0-3F0B-CC09-A37060A04226}"/>
              </a:ext>
            </a:extLst>
          </p:cNvPr>
          <p:cNvSpPr txBox="1"/>
          <p:nvPr/>
        </p:nvSpPr>
        <p:spPr>
          <a:xfrm>
            <a:off x="5010594" y="66738"/>
            <a:ext cx="1538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Testing Results</a:t>
            </a:r>
            <a:endParaRPr lang="zh-CN" altLang="en-US" dirty="0"/>
          </a:p>
        </p:txBody>
      </p:sp>
      <p:sp>
        <p:nvSpPr>
          <p:cNvPr id="21" name="流程图: 可选过程 20">
            <a:extLst>
              <a:ext uri="{FF2B5EF4-FFF2-40B4-BE49-F238E27FC236}">
                <a16:creationId xmlns:a16="http://schemas.microsoft.com/office/drawing/2014/main" id="{8263896A-6D29-60D3-7B42-08E684169CDE}"/>
              </a:ext>
            </a:extLst>
          </p:cNvPr>
          <p:cNvSpPr/>
          <p:nvPr/>
        </p:nvSpPr>
        <p:spPr>
          <a:xfrm>
            <a:off x="265810" y="3843031"/>
            <a:ext cx="3866710" cy="80275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/>
              <a:t>{</a:t>
            </a:r>
            <a:r>
              <a:rPr lang="zh-CN" altLang="en-US" sz="1100" dirty="0"/>
              <a:t>前文所有信息</a:t>
            </a:r>
            <a:r>
              <a:rPr lang="en-US" altLang="zh-CN" sz="1100" dirty="0"/>
              <a:t>}</a:t>
            </a:r>
          </a:p>
          <a:p>
            <a:r>
              <a:rPr lang="zh-CN" altLang="en-US" sz="1100" dirty="0"/>
              <a:t>现在，请用第一人称写一段简短的自我反思（</a:t>
            </a:r>
            <a:r>
              <a:rPr lang="en-US" altLang="zh-CN" sz="1100" dirty="0"/>
              <a:t>3-5</a:t>
            </a:r>
            <a:r>
              <a:rPr lang="zh-CN" altLang="en-US" sz="1100" dirty="0"/>
              <a:t>句话）。解释你犯了什么错误，为什么会导致失败，以及下次尝试时应该如何改进。务必具体且可操作。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FB1ECE23-3BF5-3D74-A46E-EB02C2FEE3AD}"/>
              </a:ext>
            </a:extLst>
          </p:cNvPr>
          <p:cNvSpPr/>
          <p:nvPr/>
        </p:nvSpPr>
        <p:spPr>
          <a:xfrm>
            <a:off x="1880186" y="3525259"/>
            <a:ext cx="388088" cy="2551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41D656-966A-3169-D15D-40416F1FFD65}"/>
              </a:ext>
            </a:extLst>
          </p:cNvPr>
          <p:cNvSpPr/>
          <p:nvPr/>
        </p:nvSpPr>
        <p:spPr>
          <a:xfrm>
            <a:off x="192273" y="66738"/>
            <a:ext cx="4204290" cy="35430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B8644D9-93FB-7E24-AC6C-7576DFC19B96}"/>
              </a:ext>
            </a:extLst>
          </p:cNvPr>
          <p:cNvCxnSpPr/>
          <p:nvPr/>
        </p:nvCxnSpPr>
        <p:spPr>
          <a:xfrm>
            <a:off x="192273" y="3609753"/>
            <a:ext cx="222397" cy="41467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9744F8B-A691-02D5-8AB5-426B12C9C795}"/>
              </a:ext>
            </a:extLst>
          </p:cNvPr>
          <p:cNvCxnSpPr>
            <a:cxnSpLocks/>
          </p:cNvCxnSpPr>
          <p:nvPr/>
        </p:nvCxnSpPr>
        <p:spPr>
          <a:xfrm flipH="1">
            <a:off x="1313121" y="3609753"/>
            <a:ext cx="3083442" cy="41467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C65BEF1-A8F4-A742-CBB3-F2996593FA31}"/>
              </a:ext>
            </a:extLst>
          </p:cNvPr>
          <p:cNvSpPr txBox="1"/>
          <p:nvPr/>
        </p:nvSpPr>
        <p:spPr>
          <a:xfrm>
            <a:off x="3102" y="4612864"/>
            <a:ext cx="50810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Shinn N, Cassano F, Gopinath A, et al. </a:t>
            </a:r>
            <a:r>
              <a:rPr lang="en-US" altLang="zh-CN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Reflexion</a:t>
            </a:r>
            <a:r>
              <a:rPr lang="en-US" altLang="zh-CN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Language agents with verbal reinforcement learning[J]. Advances in neural information processing systems, 2023, 36: 8634-8652.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371217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41EACDC-A431-63EC-C4DD-356FFD6B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02" y="490413"/>
            <a:ext cx="5869172" cy="29653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3711E58-FAF1-1D76-49EA-7035E71EBED3}"/>
              </a:ext>
            </a:extLst>
          </p:cNvPr>
          <p:cNvSpPr txBox="1"/>
          <p:nvPr/>
        </p:nvSpPr>
        <p:spPr>
          <a:xfrm>
            <a:off x="148856" y="3608641"/>
            <a:ext cx="8926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从 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trial 2 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到 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trial 12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quote-cjk-patch"/>
              </a:rPr>
              <a:t>ReAct+Reflexion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的成功任务数</a:t>
            </a:r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稳定增加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，最终解决了 </a:t>
            </a:r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130/134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个任务（约 </a:t>
            </a:r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97%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）。</a:t>
            </a: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28600" indent="-228600">
              <a:buAutoNum type="arabicPeriod"/>
            </a:pPr>
            <a:r>
              <a:rPr lang="en-US" altLang="zh-CN" sz="1200" dirty="0" err="1"/>
              <a:t>ReAct</a:t>
            </a:r>
            <a:r>
              <a:rPr lang="en-US" altLang="zh-CN" sz="1200" dirty="0"/>
              <a:t>-only </a:t>
            </a:r>
            <a:r>
              <a:rPr lang="zh-CN" altLang="en-US" sz="1200" dirty="0"/>
              <a:t>停滞：在 </a:t>
            </a:r>
            <a:r>
              <a:rPr lang="en-US" altLang="zh-CN" sz="1200" dirty="0"/>
              <a:t>trial 6–7 </a:t>
            </a:r>
            <a:r>
              <a:rPr lang="zh-CN" altLang="en-US" sz="1200" dirty="0"/>
              <a:t>之后，</a:t>
            </a:r>
            <a:r>
              <a:rPr lang="en-US" altLang="zh-CN" sz="1200" dirty="0" err="1"/>
              <a:t>ReAct</a:t>
            </a:r>
            <a:r>
              <a:rPr lang="en-US" altLang="zh-CN" sz="1200" dirty="0"/>
              <a:t>-only </a:t>
            </a:r>
            <a:r>
              <a:rPr lang="zh-CN" altLang="en-US" sz="1200" dirty="0"/>
              <a:t>的成功率不再提升，最终只能解决约 </a:t>
            </a:r>
            <a:r>
              <a:rPr lang="en-US" altLang="zh-CN" sz="1200" dirty="0"/>
              <a:t>105 </a:t>
            </a:r>
            <a:r>
              <a:rPr lang="zh-CN" altLang="en-US" sz="1200" dirty="0"/>
              <a:t>个任务（约 </a:t>
            </a:r>
            <a:r>
              <a:rPr lang="en-US" altLang="zh-CN" sz="1200" dirty="0"/>
              <a:t>78%</a:t>
            </a:r>
            <a:r>
              <a:rPr lang="zh-CN" altLang="en-US" sz="1200" dirty="0"/>
              <a:t>），且存在约 </a:t>
            </a:r>
            <a:r>
              <a:rPr lang="en-US" altLang="zh-CN" sz="1200" dirty="0"/>
              <a:t>22% </a:t>
            </a:r>
            <a:r>
              <a:rPr lang="zh-CN" altLang="en-US" sz="1200" dirty="0"/>
              <a:t>的幻觉率（</a:t>
            </a:r>
            <a:r>
              <a:rPr lang="en-US" altLang="zh-CN" sz="1200" dirty="0"/>
              <a:t>hallucination rate</a:t>
            </a:r>
            <a:r>
              <a:rPr lang="zh-CN" altLang="en-US" sz="1200" dirty="0"/>
              <a:t>）无法恢复。</a:t>
            </a:r>
          </a:p>
        </p:txBody>
      </p:sp>
    </p:spTree>
    <p:extLst>
      <p:ext uri="{BB962C8B-B14F-4D97-AF65-F5344CB8AC3E}">
        <p14:creationId xmlns:p14="http://schemas.microsoft.com/office/powerpoint/2010/main" val="249048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System prompt</a:t>
            </a:r>
            <a:endParaRPr dirty="0"/>
          </a:p>
          <a:p>
            <a:pPr lvl="1"/>
            <a:r>
              <a:rPr lang="zh-CN" altLang="en-US" dirty="0"/>
              <a:t>提供给</a:t>
            </a:r>
            <a:r>
              <a:rPr lang="en-US" altLang="zh-CN" dirty="0"/>
              <a:t>LLM</a:t>
            </a:r>
            <a:r>
              <a:rPr lang="zh-CN" altLang="en-US" dirty="0"/>
              <a:t>的第一条消息（用户通常不可见）</a:t>
            </a:r>
          </a:p>
          <a:p>
            <a:pPr lvl="1"/>
            <a:r>
              <a:rPr lang="zh-CN" altLang="en-US" dirty="0"/>
              <a:t>定义角色、规则、输出风格</a:t>
            </a:r>
            <a:endParaRPr lang="en-US" altLang="zh-CN" dirty="0"/>
          </a:p>
          <a:p>
            <a:pPr lvl="2"/>
            <a:r>
              <a:rPr lang="zh-CN" altLang="en-US" dirty="0"/>
              <a:t>系统提示用于设定模型的全局行为。例如：</a:t>
            </a:r>
          </a:p>
          <a:p>
            <a:pPr lvl="2"/>
            <a:r>
              <a:rPr lang="zh-CN" altLang="en-US" dirty="0"/>
              <a:t>“你是一位高级软件开发者，回答要详细且严谨。”</a:t>
            </a:r>
            <a:endParaRPr lang="en-US" altLang="zh-CN" dirty="0"/>
          </a:p>
          <a:p>
            <a:pPr lvl="2"/>
            <a:r>
              <a:rPr lang="zh-CN" altLang="en-US" dirty="0"/>
              <a:t>系统提示在整个对话中持续生效，是控制模型风格和道德边界的有效工具。</a:t>
            </a:r>
          </a:p>
          <a:p>
            <a:pPr marL="1054100" lvl="2" indent="0"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58" name="Google Shape;25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82" name="Google Shape;282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altLang="zh-CN" dirty="0"/>
              <a:t>User prompt</a:t>
            </a:r>
          </a:p>
          <a:p>
            <a:pPr lvl="1" indent="-342900">
              <a:buSzPts val="1800"/>
              <a:buChar char="●"/>
            </a:pPr>
            <a:r>
              <a:rPr lang="zh-CN" altLang="en-US" dirty="0"/>
              <a:t>来自人类的实际指令</a:t>
            </a:r>
          </a:p>
          <a:p>
            <a:pPr lvl="0"/>
            <a:r>
              <a:rPr lang="en-US" altLang="zh-CN" dirty="0"/>
              <a:t>Assistant Response </a:t>
            </a:r>
          </a:p>
          <a:p>
            <a:pPr lvl="1"/>
            <a:r>
              <a:rPr lang="en-US" altLang="zh-CN" dirty="0"/>
              <a:t>LLM</a:t>
            </a:r>
            <a:r>
              <a:rPr lang="zh-CN" altLang="en-US" dirty="0"/>
              <a:t>实际生成的内容</a:t>
            </a:r>
          </a:p>
          <a:p>
            <a:pPr lvl="0"/>
            <a:r>
              <a:rPr lang="zh-CN" altLang="en-US" dirty="0"/>
              <a:t>我们前面所有示例中的提示，本质上都是用户提示。理解这三者的区别有助于设计更复杂的多轮对话流程。</a:t>
            </a:r>
            <a:endParaRPr lang="en" dirty="0"/>
          </a:p>
        </p:txBody>
      </p:sp>
      <p:sp>
        <p:nvSpPr>
          <p:cNvPr id="283" name="Google Shape;283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Best Practices</a:t>
            </a:r>
            <a:endParaRPr dirty="0"/>
          </a:p>
        </p:txBody>
      </p:sp>
      <p:sp>
        <p:nvSpPr>
          <p:cNvPr id="302" name="Google Shape;302;p37"/>
          <p:cNvSpPr txBox="1">
            <a:spLocks noGrp="1"/>
          </p:cNvSpPr>
          <p:nvPr>
            <p:ph type="body" idx="1"/>
          </p:nvPr>
        </p:nvSpPr>
        <p:spPr>
          <a:xfrm>
            <a:off x="311700" y="1160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使用提示改进工具（如</a:t>
            </a:r>
            <a:r>
              <a:rPr lang="en-US" dirty="0"/>
              <a:t>Anthropic</a:t>
            </a:r>
            <a:r>
              <a:rPr lang="zh-CN" altLang="en-US" dirty="0"/>
              <a:t>的</a:t>
            </a:r>
            <a:r>
              <a:rPr lang="en-US" dirty="0"/>
              <a:t>Prompt Improver）</a:t>
            </a:r>
          </a:p>
          <a:p>
            <a:pPr lvl="1"/>
            <a:r>
              <a:rPr lang="en-US" altLang="zh-CN" u="sng" dirty="0">
                <a:solidFill>
                  <a:schemeClr val="hlink"/>
                </a:solidFill>
                <a:hlinkClick r:id="rId3"/>
              </a:rPr>
              <a:t>https://docs.anthropic.com/en/docs/build-with-claude/prompt-engineering/prompt-improver</a:t>
            </a:r>
            <a:endParaRPr lang="en-US" altLang="zh-CN" u="sng" dirty="0">
              <a:solidFill>
                <a:schemeClr val="hlink"/>
              </a:solidFill>
            </a:endParaRPr>
          </a:p>
          <a:p>
            <a:pPr lvl="1"/>
            <a:r>
              <a:rPr lang="zh-CN" altLang="en-US" dirty="0"/>
              <a:t>一些平台提供自动优化提示的工具，可以尝试。</a:t>
            </a:r>
            <a:endParaRPr lang="en-US" dirty="0"/>
          </a:p>
          <a:p>
            <a:pPr lvl="0"/>
            <a:r>
              <a:rPr lang="zh-CN" altLang="en-US" dirty="0"/>
              <a:t>清晰提示：给一个缺乏上下文的人看，如果他能懂，</a:t>
            </a:r>
            <a:r>
              <a:rPr lang="en-US" dirty="0"/>
              <a:t>LLM</a:t>
            </a:r>
            <a:r>
              <a:rPr lang="zh-CN" altLang="en-US" dirty="0"/>
              <a:t>也能懂</a:t>
            </a:r>
          </a:p>
          <a:p>
            <a:pPr lvl="0"/>
            <a:r>
              <a:rPr lang="zh-CN" altLang="en-US" dirty="0"/>
              <a:t>积极使用角色扮演（</a:t>
            </a:r>
            <a:r>
              <a:rPr lang="en-US" dirty="0"/>
              <a:t>role prompting）</a:t>
            </a:r>
            <a:r>
              <a:rPr lang="zh-CN" altLang="en-US" dirty="0"/>
              <a:t>增强系统提示</a:t>
            </a:r>
            <a:endParaRPr lang="en-US" altLang="zh-CN" dirty="0"/>
          </a:p>
          <a:p>
            <a:pPr lvl="1"/>
            <a:r>
              <a:rPr lang="zh-CN" altLang="en-US" dirty="0"/>
              <a:t>让模型扮演特定角色（如资深程序员、产品经理、老师）能显著提高输出的专业度和针对性。</a:t>
            </a:r>
            <a:endParaRPr lang="en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303" name="Google Shape;303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可选过程 3">
            <a:extLst>
              <a:ext uri="{FF2B5EF4-FFF2-40B4-BE49-F238E27FC236}">
                <a16:creationId xmlns:a16="http://schemas.microsoft.com/office/drawing/2014/main" id="{640F6489-1A06-9E31-AC80-DFB5155765E8}"/>
              </a:ext>
            </a:extLst>
          </p:cNvPr>
          <p:cNvSpPr/>
          <p:nvPr/>
        </p:nvSpPr>
        <p:spPr>
          <a:xfrm>
            <a:off x="2209612" y="108984"/>
            <a:ext cx="5966825" cy="120739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900" dirty="0"/>
              <a:t>From the following list of Wikipedia article titles, identify which article this sentence came from. Respond with just the article title and nothing else.</a:t>
            </a:r>
          </a:p>
          <a:p>
            <a:r>
              <a:rPr lang="en-US" altLang="zh-CN" sz="900" dirty="0"/>
              <a:t>Article titles:</a:t>
            </a:r>
          </a:p>
          <a:p>
            <a:r>
              <a:rPr lang="en-US" altLang="zh-CN" sz="900" dirty="0"/>
              <a:t>{{titles}}</a:t>
            </a:r>
          </a:p>
          <a:p>
            <a:r>
              <a:rPr lang="en-US" altLang="zh-CN" sz="900" dirty="0"/>
              <a:t>Sentence to classify:</a:t>
            </a:r>
          </a:p>
          <a:p>
            <a:r>
              <a:rPr lang="en-US" altLang="zh-CN" sz="900" dirty="0"/>
              <a:t>{{sentence}}</a:t>
            </a:r>
            <a:endParaRPr lang="zh-CN" altLang="en-US" sz="900" dirty="0"/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DE0C74C2-9A70-92A9-D590-89CF1B50738D}"/>
              </a:ext>
            </a:extLst>
          </p:cNvPr>
          <p:cNvSpPr/>
          <p:nvPr/>
        </p:nvSpPr>
        <p:spPr>
          <a:xfrm>
            <a:off x="2209613" y="1568302"/>
            <a:ext cx="5966826" cy="346621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/>
              <a:t>You are an intelligent text classification system specialized in matching sentences to Wikipedia article titles. Your task is to identify which Wikipedia article a given sentence most likely belongs to, based on a provided list of article titles.</a:t>
            </a:r>
          </a:p>
          <a:p>
            <a:r>
              <a:rPr lang="en-US" altLang="zh-CN" sz="800" dirty="0"/>
              <a:t>First, review the following list of Wikipedia article titles:</a:t>
            </a:r>
          </a:p>
          <a:p>
            <a:r>
              <a:rPr lang="en-US" altLang="zh-CN" sz="800" dirty="0"/>
              <a:t>&lt;</a:t>
            </a:r>
            <a:r>
              <a:rPr lang="en-US" altLang="zh-CN" sz="800" dirty="0" err="1"/>
              <a:t>article_titles</a:t>
            </a:r>
            <a:r>
              <a:rPr lang="en-US" altLang="zh-CN" sz="800" dirty="0"/>
              <a:t>&gt;</a:t>
            </a:r>
          </a:p>
          <a:p>
            <a:r>
              <a:rPr lang="en-US" altLang="zh-CN" sz="800" dirty="0"/>
              <a:t>{{titles}}</a:t>
            </a:r>
          </a:p>
          <a:p>
            <a:r>
              <a:rPr lang="en-US" altLang="zh-CN" sz="800" dirty="0"/>
              <a:t>&lt;/</a:t>
            </a:r>
            <a:r>
              <a:rPr lang="en-US" altLang="zh-CN" sz="800" dirty="0" err="1"/>
              <a:t>article_titles</a:t>
            </a:r>
            <a:r>
              <a:rPr lang="en-US" altLang="zh-CN" sz="800" dirty="0"/>
              <a:t>&gt;</a:t>
            </a:r>
          </a:p>
          <a:p>
            <a:endParaRPr lang="en-US" altLang="zh-CN" sz="800" dirty="0"/>
          </a:p>
          <a:p>
            <a:r>
              <a:rPr lang="en-US" altLang="zh-CN" sz="800" dirty="0"/>
              <a:t>Now, consider this sentence that needs to be classified:</a:t>
            </a:r>
          </a:p>
          <a:p>
            <a:r>
              <a:rPr lang="en-US" altLang="zh-CN" sz="800" dirty="0"/>
              <a:t>&lt;</a:t>
            </a:r>
            <a:r>
              <a:rPr lang="en-US" altLang="zh-CN" sz="800" dirty="0" err="1"/>
              <a:t>sentence_to_classify</a:t>
            </a:r>
            <a:r>
              <a:rPr lang="en-US" altLang="zh-CN" sz="800" dirty="0"/>
              <a:t>&gt;</a:t>
            </a:r>
          </a:p>
          <a:p>
            <a:r>
              <a:rPr lang="en-US" altLang="zh-CN" sz="800" dirty="0"/>
              <a:t>{{sentence}}</a:t>
            </a:r>
          </a:p>
          <a:p>
            <a:r>
              <a:rPr lang="en-US" altLang="zh-CN" sz="800" dirty="0"/>
              <a:t>&lt;/</a:t>
            </a:r>
            <a:r>
              <a:rPr lang="en-US" altLang="zh-CN" sz="800" dirty="0" err="1"/>
              <a:t>sentence_to_classify</a:t>
            </a:r>
            <a:r>
              <a:rPr lang="en-US" altLang="zh-CN" sz="800" dirty="0"/>
              <a:t>&gt;</a:t>
            </a:r>
          </a:p>
          <a:p>
            <a:endParaRPr lang="en-US" altLang="zh-CN" sz="800" dirty="0"/>
          </a:p>
          <a:p>
            <a:r>
              <a:rPr lang="en-US" altLang="zh-CN" sz="800" dirty="0"/>
              <a:t>Your goal is to determine which article title from the provided list best matches the given sentence. Follow these steps:</a:t>
            </a:r>
          </a:p>
          <a:p>
            <a:r>
              <a:rPr lang="en-US" altLang="zh-CN" sz="800" dirty="0"/>
              <a:t>1. List the key concepts from the sentence</a:t>
            </a:r>
          </a:p>
          <a:p>
            <a:r>
              <a:rPr lang="en-US" altLang="zh-CN" sz="800" dirty="0"/>
              <a:t>2. Compare each key concept with the article titles</a:t>
            </a:r>
          </a:p>
          <a:p>
            <a:r>
              <a:rPr lang="en-US" altLang="zh-CN" sz="800" dirty="0"/>
              <a:t>3. Rank the top 3 most relevant titles and explain why they are relevant</a:t>
            </a:r>
          </a:p>
          <a:p>
            <a:r>
              <a:rPr lang="en-US" altLang="zh-CN" sz="800" dirty="0"/>
              <a:t>4. Select the most appropriate article title that best encompasses or relates to the sentence's content</a:t>
            </a:r>
          </a:p>
          <a:p>
            <a:endParaRPr lang="en-US" altLang="zh-CN" sz="800" dirty="0"/>
          </a:p>
          <a:p>
            <a:r>
              <a:rPr lang="en-US" altLang="zh-CN" sz="800" dirty="0"/>
              <a:t>Wrap your analysis in &lt;analysis&gt; tags. Include the following:</a:t>
            </a:r>
          </a:p>
          <a:p>
            <a:r>
              <a:rPr lang="en-US" altLang="zh-CN" sz="800" dirty="0"/>
              <a:t>- List of key concepts from the sentence</a:t>
            </a:r>
          </a:p>
          <a:p>
            <a:r>
              <a:rPr lang="en-US" altLang="zh-CN" sz="800" dirty="0"/>
              <a:t>- Comparison of each key concept with the article titles</a:t>
            </a:r>
          </a:p>
          <a:p>
            <a:r>
              <a:rPr lang="en-US" altLang="zh-CN" sz="800" dirty="0"/>
              <a:t>- Ranking of top 3 most relevant titles with explanations</a:t>
            </a:r>
          </a:p>
          <a:p>
            <a:r>
              <a:rPr lang="en-US" altLang="zh-CN" sz="800" dirty="0"/>
              <a:t>- Your final choice and reasoning</a:t>
            </a:r>
          </a:p>
          <a:p>
            <a:endParaRPr lang="en-US" altLang="zh-CN" sz="800" dirty="0"/>
          </a:p>
          <a:p>
            <a:r>
              <a:rPr lang="en-US" altLang="zh-CN" sz="800" dirty="0"/>
              <a:t>After your analysis, provide your final answer: the single most appropriate Wikipedia article title from the list.</a:t>
            </a:r>
          </a:p>
          <a:p>
            <a:r>
              <a:rPr lang="en-US" altLang="zh-CN" sz="800" dirty="0"/>
              <a:t>Output only the chosen article title, without any additional text or explanation.</a:t>
            </a:r>
            <a:endParaRPr lang="zh-CN" altLang="en-US" sz="800" dirty="0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AF535CBA-4804-40FB-0C7F-818D458DB843}"/>
              </a:ext>
            </a:extLst>
          </p:cNvPr>
          <p:cNvSpPr/>
          <p:nvPr/>
        </p:nvSpPr>
        <p:spPr>
          <a:xfrm>
            <a:off x="4997303" y="1148316"/>
            <a:ext cx="723014" cy="52631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0CF10D-238D-00A3-29B7-C8A2621D828F}"/>
              </a:ext>
            </a:extLst>
          </p:cNvPr>
          <p:cNvSpPr txBox="1"/>
          <p:nvPr/>
        </p:nvSpPr>
        <p:spPr>
          <a:xfrm>
            <a:off x="5720317" y="1288452"/>
            <a:ext cx="382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提示词优化 </a:t>
            </a:r>
            <a:r>
              <a:rPr lang="en-US" altLang="zh-CN" dirty="0"/>
              <a:t>by Anthropic Prompt Improver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3BE9FB-5B2F-2D34-DD6E-D23882392313}"/>
              </a:ext>
            </a:extLst>
          </p:cNvPr>
          <p:cNvSpPr txBox="1"/>
          <p:nvPr/>
        </p:nvSpPr>
        <p:spPr>
          <a:xfrm>
            <a:off x="170120" y="477910"/>
            <a:ext cx="1722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一个使用提示词增强提升</a:t>
            </a:r>
            <a:r>
              <a:rPr lang="en-US" altLang="zh-CN" dirty="0"/>
              <a:t>LLM</a:t>
            </a:r>
            <a:r>
              <a:rPr lang="zh-CN" altLang="en-US" dirty="0"/>
              <a:t>推理能力的案例</a:t>
            </a:r>
          </a:p>
        </p:txBody>
      </p:sp>
    </p:spTree>
    <p:extLst>
      <p:ext uri="{BB962C8B-B14F-4D97-AF65-F5344CB8AC3E}">
        <p14:creationId xmlns:p14="http://schemas.microsoft.com/office/powerpoint/2010/main" val="1759234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D28ECF-9A71-D6B3-0F16-BC7C0F3B0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553" y="0"/>
            <a:ext cx="5124894" cy="16944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035DE1-24F9-BE3E-F2DD-3BAF5569F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6" y="1757162"/>
            <a:ext cx="4965405" cy="26411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A5DD6B4-1EE2-84FD-962B-BB9828AB0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605" y="1724498"/>
            <a:ext cx="3857019" cy="275152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84ADA4-A5F7-F398-75F7-110530B1BD03}"/>
              </a:ext>
            </a:extLst>
          </p:cNvPr>
          <p:cNvSpPr txBox="1"/>
          <p:nvPr/>
        </p:nvSpPr>
        <p:spPr>
          <a:xfrm>
            <a:off x="47846" y="4648708"/>
            <a:ext cx="90057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Dong Y, Jiang X, Jin Z, et al. Self-collaboration code generation via </a:t>
            </a:r>
            <a:r>
              <a:rPr lang="en-US" altLang="zh-CN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lang="en-US" altLang="zh-CN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[J]. ACM Transactions on Software Engineering and Methodology, 2024, 33(7): 1-38.</a:t>
            </a:r>
            <a:endParaRPr lang="zh-CN" altLang="en-US" sz="105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D23681-8A82-6DC6-3BFB-D1887927BA0E}"/>
              </a:ext>
            </a:extLst>
          </p:cNvPr>
          <p:cNvSpPr txBox="1"/>
          <p:nvPr/>
        </p:nvSpPr>
        <p:spPr>
          <a:xfrm>
            <a:off x="170120" y="477910"/>
            <a:ext cx="1722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一个通过角色扮演提升</a:t>
            </a:r>
            <a:r>
              <a:rPr lang="en-US" altLang="zh-CN" dirty="0"/>
              <a:t>LLM</a:t>
            </a:r>
            <a:r>
              <a:rPr lang="zh-CN" altLang="en-US" dirty="0"/>
              <a:t>代码生成能力的案例</a:t>
            </a:r>
          </a:p>
        </p:txBody>
      </p:sp>
    </p:spTree>
    <p:extLst>
      <p:ext uri="{BB962C8B-B14F-4D97-AF65-F5344CB8AC3E}">
        <p14:creationId xmlns:p14="http://schemas.microsoft.com/office/powerpoint/2010/main" val="1875228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29D1D65-57CA-58F9-857C-71E17361D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749" y="266410"/>
            <a:ext cx="5370501" cy="418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02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>
            <a:spLocks noGrp="1"/>
          </p:cNvSpPr>
          <p:nvPr>
            <p:ph type="body" idx="1"/>
          </p:nvPr>
        </p:nvSpPr>
        <p:spPr>
          <a:xfrm>
            <a:off x="311650" y="10463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en-US" dirty="0"/>
              <a:t>使用清晰的标签（如</a:t>
            </a:r>
            <a:r>
              <a:rPr lang="en-US" altLang="zh-CN" dirty="0"/>
              <a:t>&lt;</a:t>
            </a:r>
            <a:r>
              <a:rPr lang="en-US" dirty="0"/>
              <a:t>log&gt;、&lt;error&gt;）</a:t>
            </a:r>
            <a:r>
              <a:rPr lang="zh-CN" altLang="en-US" dirty="0"/>
              <a:t>分隔不同部分。</a:t>
            </a:r>
            <a:endParaRPr lang="en-US" altLang="zh-CN" dirty="0"/>
          </a:p>
          <a:p>
            <a:pPr lvl="1" indent="-342900">
              <a:buSzPts val="1800"/>
              <a:buChar char="●"/>
            </a:pPr>
            <a:r>
              <a:rPr lang="zh-CN" altLang="en-US" dirty="0"/>
              <a:t>当输入包含日志、堆栈跟踪、文档等多种信息时，使用</a:t>
            </a:r>
            <a:r>
              <a:rPr lang="en-US" altLang="zh-CN" dirty="0"/>
              <a:t>XML</a:t>
            </a:r>
            <a:r>
              <a:rPr lang="zh-CN" altLang="en-US" dirty="0"/>
              <a:t>或</a:t>
            </a:r>
            <a:r>
              <a:rPr lang="en-US" altLang="zh-CN" dirty="0"/>
              <a:t>Markdown</a:t>
            </a:r>
            <a:r>
              <a:rPr lang="zh-CN" altLang="en-US" dirty="0"/>
              <a:t>标签进行结构化分隔，能帮助模型准确理解每一部分的含义。</a:t>
            </a:r>
            <a:endParaRPr lang="en-US" altLang="zh-CN" dirty="0"/>
          </a:p>
          <a:p>
            <a:pPr lvl="1" indent="-342900">
              <a:buSzPts val="1800"/>
              <a:buChar char="●"/>
            </a:pPr>
            <a:r>
              <a:rPr lang="zh-CN" altLang="en-US" dirty="0"/>
              <a:t>如下这种做法比无格式拼接更可靠，模型能学会聚焦于关键信息。</a:t>
            </a:r>
          </a:p>
          <a:p>
            <a:pPr lvl="1" indent="-342900">
              <a:buSzPts val="1800"/>
              <a:buChar char="●"/>
            </a:pPr>
            <a:endParaRPr lang="en-US" dirty="0"/>
          </a:p>
        </p:txBody>
      </p:sp>
      <p:sp>
        <p:nvSpPr>
          <p:cNvPr id="333" name="Google Shape;33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34" name="Google Shape;334;p4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1"/>
          <p:cNvSpPr/>
          <p:nvPr/>
        </p:nvSpPr>
        <p:spPr>
          <a:xfrm>
            <a:off x="2431544" y="2286588"/>
            <a:ext cx="3177000" cy="27114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41"/>
          <p:cNvSpPr txBox="1"/>
          <p:nvPr/>
        </p:nvSpPr>
        <p:spPr>
          <a:xfrm>
            <a:off x="2681744" y="2662075"/>
            <a:ext cx="2676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the logs:</a:t>
            </a:r>
            <a:b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</a:t>
            </a:r>
            <a:b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 MESSAGE</a:t>
            </a:r>
            <a:endParaRPr sz="1600" b="1" i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 and the stack trace:</a:t>
            </a:r>
            <a:b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b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STACK TRACE</a:t>
            </a:r>
            <a:b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 b="1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endParaRPr sz="1600" b="1" i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zh-CN" altLang="en-US" dirty="0"/>
              <a:t>明确表达你想要的（语言、技术栈、库、约束）</a:t>
            </a:r>
            <a:endParaRPr lang="en-US" altLang="zh-CN" dirty="0"/>
          </a:p>
          <a:p>
            <a:pPr lvl="1"/>
            <a:r>
              <a:rPr lang="zh-CN" altLang="en-US" dirty="0"/>
              <a:t>不要说“写一个函数”，而要说“用</a:t>
            </a:r>
            <a:r>
              <a:rPr lang="en-US" altLang="zh-CN" dirty="0"/>
              <a:t>Python 3.10+</a:t>
            </a:r>
            <a:r>
              <a:rPr lang="zh-CN" altLang="en-US" dirty="0"/>
              <a:t>写一个异步函数，使用</a:t>
            </a:r>
            <a:r>
              <a:rPr lang="en-US" altLang="zh-CN" dirty="0" err="1"/>
              <a:t>aiohttp</a:t>
            </a:r>
            <a:r>
              <a:rPr lang="zh-CN" altLang="en-US" dirty="0"/>
              <a:t>库，超时设为</a:t>
            </a:r>
            <a:r>
              <a:rPr lang="en-US" altLang="zh-CN" dirty="0"/>
              <a:t>10</a:t>
            </a:r>
            <a:r>
              <a:rPr lang="zh-CN" altLang="en-US" dirty="0"/>
              <a:t>秒”。</a:t>
            </a:r>
          </a:p>
          <a:p>
            <a:pPr lvl="0"/>
            <a:r>
              <a:rPr lang="zh-CN" altLang="en-US" dirty="0"/>
              <a:t>分解复杂任务</a:t>
            </a:r>
            <a:endParaRPr lang="en-US" altLang="zh-CN" dirty="0"/>
          </a:p>
          <a:p>
            <a:pPr lvl="1"/>
            <a:r>
              <a:rPr lang="zh-CN" altLang="en-US" dirty="0"/>
              <a:t>如果任务很复杂，先要求模型输出步骤大纲，再分步实现。例如：“第一步：读取文件。第二步：解析</a:t>
            </a:r>
            <a:r>
              <a:rPr lang="en-US" altLang="zh-CN" dirty="0"/>
              <a:t>JSON</a:t>
            </a:r>
            <a:r>
              <a:rPr lang="zh-CN" altLang="en-US" dirty="0"/>
              <a:t>。第三步：</a:t>
            </a:r>
            <a:r>
              <a:rPr lang="en-US" altLang="zh-CN" dirty="0"/>
              <a:t>……”</a:t>
            </a:r>
          </a:p>
          <a:p>
            <a:pPr lvl="0"/>
            <a:r>
              <a:rPr lang="zh-CN" altLang="en-US" dirty="0"/>
              <a:t>这些技巧能大幅降低模型的误解和遗漏。</a:t>
            </a:r>
            <a:endParaRPr lang="en-US" altLang="zh-CN" dirty="0"/>
          </a:p>
        </p:txBody>
      </p:sp>
      <p:sp>
        <p:nvSpPr>
          <p:cNvPr id="343" name="Google Shape;343;p4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D9F6A43-C038-F88A-E851-C06BB17BE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4" y="303028"/>
            <a:ext cx="4197653" cy="44021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55AB00-1C38-5C61-4E7E-F69685411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867" y="1662271"/>
            <a:ext cx="4909133" cy="16837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23E45D1-E8D4-BEDA-D50C-F603B4E1BB60}"/>
              </a:ext>
            </a:extLst>
          </p:cNvPr>
          <p:cNvSpPr txBox="1"/>
          <p:nvPr/>
        </p:nvSpPr>
        <p:spPr>
          <a:xfrm>
            <a:off x="4366219" y="4105063"/>
            <a:ext cx="457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Jiang X, Dong Y, Wang L, et al. Self-planning code generation with large language models[J]. ACM Transactions on Software Engineering and Methodology, 2024, 33(7): 1-30.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44313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3"/>
          <p:cNvSpPr txBox="1"/>
          <p:nvPr/>
        </p:nvSpPr>
        <p:spPr>
          <a:xfrm>
            <a:off x="3271150" y="2164525"/>
            <a:ext cx="24204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3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ED102-853E-DAA7-C15E-62550EC6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课后实验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909120-E6D9-BCAD-5D1F-2F4B27047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>
                <a:hlinkClick r:id="rId2"/>
              </a:rPr>
              <a:t>https://github.com/yz1019117968/ai_coding_experiments/tree/main/prompt_engineering</a:t>
            </a:r>
            <a:r>
              <a:rPr lang="zh-CN" altLang="en-US" dirty="0"/>
              <a:t>中</a:t>
            </a:r>
            <a:r>
              <a:rPr lang="en-US" altLang="zh-CN" dirty="0"/>
              <a:t>,assignment.md</a:t>
            </a:r>
            <a:r>
              <a:rPr lang="zh-CN" altLang="en-US" dirty="0"/>
              <a:t>开展实验</a:t>
            </a:r>
          </a:p>
        </p:txBody>
      </p:sp>
    </p:spTree>
    <p:extLst>
      <p:ext uri="{BB962C8B-B14F-4D97-AF65-F5344CB8AC3E}">
        <p14:creationId xmlns:p14="http://schemas.microsoft.com/office/powerpoint/2010/main" val="393077789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</TotalTime>
  <Words>3097</Words>
  <Application>Microsoft Office PowerPoint</Application>
  <PresentationFormat>全屏显示(16:9)</PresentationFormat>
  <Paragraphs>244</Paragraphs>
  <Slides>35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Arial</vt:lpstr>
      <vt:lpstr>Roboto</vt:lpstr>
      <vt:lpstr>quote-cjk-patch</vt:lpstr>
      <vt:lpstr>Simple Light</vt:lpstr>
      <vt:lpstr>PowerPoint 演示文稿</vt:lpstr>
      <vt:lpstr>LLM Power Prompting</vt:lpstr>
      <vt:lpstr>Prompting background</vt:lpstr>
      <vt:lpstr>Prompting Background</vt:lpstr>
      <vt:lpstr>Zero-shot prompting</vt:lpstr>
      <vt:lpstr>K-shot prompting</vt:lpstr>
      <vt:lpstr>PowerPoint 演示文稿</vt:lpstr>
      <vt:lpstr>PowerPoint 演示文稿</vt:lpstr>
      <vt:lpstr>Chain-of-Thought Prompting</vt:lpstr>
      <vt:lpstr>PowerPoint 演示文稿</vt:lpstr>
      <vt:lpstr>PowerPoint 演示文稿</vt:lpstr>
      <vt:lpstr>PowerPoint 演示文稿</vt:lpstr>
      <vt:lpstr>PowerPoint 演示文稿</vt:lpstr>
      <vt:lpstr>Self-consistency Prompting</vt:lpstr>
      <vt:lpstr>PowerPoint 演示文稿</vt:lpstr>
      <vt:lpstr>PowerPoint 演示文稿</vt:lpstr>
      <vt:lpstr>Tool Use</vt:lpstr>
      <vt:lpstr>Function Call</vt:lpstr>
      <vt:lpstr>Retrieval Augmented Generation</vt:lpstr>
      <vt:lpstr>PowerPoint 演示文稿</vt:lpstr>
      <vt:lpstr>PowerPoint 演示文稿</vt:lpstr>
      <vt:lpstr>Reflexion</vt:lpstr>
      <vt:lpstr>PowerPoint 演示文稿</vt:lpstr>
      <vt:lpstr>PowerPoint 演示文稿</vt:lpstr>
      <vt:lpstr>Additional Terminology</vt:lpstr>
      <vt:lpstr>Additional Terminology</vt:lpstr>
      <vt:lpstr>Best Practices</vt:lpstr>
      <vt:lpstr>PowerPoint 演示文稿</vt:lpstr>
      <vt:lpstr>PowerPoint 演示文稿</vt:lpstr>
      <vt:lpstr>PowerPoint 演示文稿</vt:lpstr>
      <vt:lpstr>Best Practices</vt:lpstr>
      <vt:lpstr>Best Practices</vt:lpstr>
      <vt:lpstr>PowerPoint 演示文稿</vt:lpstr>
      <vt:lpstr>PowerPoint 演示文稿</vt:lpstr>
      <vt:lpstr>课后实验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zhen yang</dc:creator>
  <cp:lastModifiedBy>zhen yang</cp:lastModifiedBy>
  <cp:revision>38</cp:revision>
  <dcterms:modified xsi:type="dcterms:W3CDTF">2026-05-23T11:16:01Z</dcterms:modified>
</cp:coreProperties>
</file>