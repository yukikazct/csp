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81" r:id="rId7"/>
    <p:sldId id="282" r:id="rId8"/>
    <p:sldId id="267" r:id="rId9"/>
    <p:sldId id="271" r:id="rId10"/>
    <p:sldId id="270" r:id="rId11"/>
    <p:sldId id="278" r:id="rId12"/>
    <p:sldId id="279" r:id="rId13"/>
    <p:sldId id="276" r:id="rId14"/>
    <p:sldId id="287" r:id="rId15"/>
    <p:sldId id="272" r:id="rId16"/>
    <p:sldId id="283" r:id="rId17"/>
    <p:sldId id="284" r:id="rId18"/>
    <p:sldId id="277" r:id="rId19"/>
    <p:sldId id="285" r:id="rId20"/>
    <p:sldId id="286" r:id="rId21"/>
    <p:sldId id="273" r:id="rId22"/>
    <p:sldId id="274" r:id="rId23"/>
    <p:sldId id="275" r:id="rId2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0FF99E-8C1A-4983-B79C-175BB654F4FD}">
  <a:tblStyle styleId="{590FF99E-8C1A-4983-B79C-175BB654F4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591" autoAdjust="0"/>
  </p:normalViewPr>
  <p:slideViewPr>
    <p:cSldViewPr snapToGrid="0">
      <p:cViewPr varScale="1">
        <p:scale>
          <a:sx n="158" d="100"/>
          <a:sy n="158" d="100"/>
        </p:scale>
        <p:origin x="4176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974b8d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974b8d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54390a96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54390a96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b974b8d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b974b8d4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b974b8d4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b974b8d4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974b8d4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b974b8d4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345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4390a96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54390a96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9b09f2f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99b09f2f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9b09f2f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99b09f2f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54390a961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54390a961_2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54390a96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54390a96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19bd9134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19bd9134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D90DF-45B4-B3E2-D870-FEF4E6B9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5A2C0-53FA-EC99-0B57-DF942533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3DE2EC-1C70-A6D0-39A0-D9558059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4C9FE-7FC9-4753-BAFF-FD2B3B02B987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90B34-23F0-EDCE-D5D9-DE81213A9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00A2A2-DF69-57E3-8E1E-9E43C13D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290B-FB02-420F-B902-DEB4E23C4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53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9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Vibe Coding Principle and Practice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杨振 助理教授</a:t>
            </a:r>
            <a:endParaRPr lang="en-US" altLang="zh-CN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</a:t>
            </a:r>
            <a:r>
              <a:rPr lang="en-US" altLang="zh-CN" b="1" dirty="0"/>
              <a:t>mail:</a:t>
            </a:r>
            <a:r>
              <a:rPr lang="zh-CN" altLang="en-US" b="1" dirty="0"/>
              <a:t> </a:t>
            </a:r>
            <a:r>
              <a:rPr lang="en-US" altLang="zh-CN" b="1" dirty="0"/>
              <a:t>zhenyang@sdu.edu.cn</a:t>
            </a:r>
            <a:endParaRPr b="1" dirty="0"/>
          </a:p>
        </p:txBody>
      </p:sp>
      <p:sp>
        <p:nvSpPr>
          <p:cNvPr id="62" name="Google Shape;62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How LLMs are Made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224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State of the World: 2026 </a:t>
            </a:r>
            <a:endParaRPr dirty="0"/>
          </a:p>
        </p:txBody>
      </p:sp>
      <p:sp>
        <p:nvSpPr>
          <p:cNvPr id="78" name="Google Shape;78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01E4F1-7A11-B9A9-C6BB-1BE3D9D24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" y="963704"/>
            <a:ext cx="4996434" cy="11227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9E281AB-66F9-6AAF-4DA6-C9D232DCA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5" y="2739064"/>
            <a:ext cx="4635335" cy="7915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81ED463-4B2A-EFF3-2274-96D0A48BD25B}"/>
              </a:ext>
            </a:extLst>
          </p:cNvPr>
          <p:cNvSpPr txBox="1"/>
          <p:nvPr/>
        </p:nvSpPr>
        <p:spPr>
          <a:xfrm>
            <a:off x="20171" y="3530621"/>
            <a:ext cx="45779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得益于各大科技巨头投入的巨额资本，这极可能是人类历史上我们距离通用人工智能（</a:t>
            </a:r>
            <a:r>
              <a:rPr lang="en-US" altLang="zh-CN" sz="1100" dirty="0"/>
              <a:t>AGI</a:t>
            </a:r>
            <a:r>
              <a:rPr lang="zh-CN" altLang="en-US" sz="1100" dirty="0"/>
              <a:t>）最近的一次。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F777EE-9AC1-11B3-D354-3F9C7D2D74E4}"/>
              </a:ext>
            </a:extLst>
          </p:cNvPr>
          <p:cNvSpPr txBox="1"/>
          <p:nvPr/>
        </p:nvSpPr>
        <p:spPr>
          <a:xfrm>
            <a:off x="73964" y="2090347"/>
            <a:ext cx="4577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生成式人工智能革命蓄势待发，有望彻底变革几乎所有的行业。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2A7011-8CF9-A42A-D4DB-4B0DDBBB9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632" y="2501575"/>
            <a:ext cx="2838568" cy="5233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1513EB2-3166-7DDC-B627-A8BD24068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23" y="1775516"/>
            <a:ext cx="3601977" cy="76304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4C875B5-7276-3625-D440-1BC938D63098}"/>
              </a:ext>
            </a:extLst>
          </p:cNvPr>
          <p:cNvSpPr txBox="1"/>
          <p:nvPr/>
        </p:nvSpPr>
        <p:spPr>
          <a:xfrm>
            <a:off x="5599330" y="4427265"/>
            <a:ext cx="3482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关于所取得的进展，每天都有新的头条新闻涌现。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BCCAD74-6690-FB21-3DFA-7A6099ADD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252" y="975338"/>
            <a:ext cx="4195948" cy="77547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83C3752-B6C8-142B-6BCF-C300AB3087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4791" y="0"/>
            <a:ext cx="4198409" cy="97797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88F9167-D695-7C10-78F7-2D35F239C2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5337" y="2874663"/>
            <a:ext cx="3357863" cy="7333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727F578-B9CD-3C08-E17B-6DE3A2FF04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883" y="3587485"/>
            <a:ext cx="2872886" cy="654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650" y="186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Bad News</a:t>
            </a:r>
            <a:endParaRPr dirty="0"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93" name="Google Shape;93;p17" title="anthropic_ceo.png"/>
          <p:cNvPicPr preferRelativeResize="0"/>
          <p:nvPr/>
        </p:nvPicPr>
        <p:blipFill rotWithShape="1">
          <a:blip r:embed="rId3">
            <a:alphaModFix/>
          </a:blip>
          <a:srcRect t="18943"/>
          <a:stretch/>
        </p:blipFill>
        <p:spPr>
          <a:xfrm>
            <a:off x="282034" y="2444324"/>
            <a:ext cx="4572000" cy="6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jeff_dean_cod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034" y="3230037"/>
            <a:ext cx="500947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windsur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034" y="1703687"/>
            <a:ext cx="4881775" cy="51387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944634" y="2111887"/>
            <a:ext cx="17262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Windsurf team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FDCF13-6825-9455-DFC3-13371B330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9687" y="1761305"/>
            <a:ext cx="2901594" cy="1934395"/>
          </a:xfrm>
          <a:prstGeom prst="rect">
            <a:avLst/>
          </a:prstGeom>
        </p:spPr>
      </p:pic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A1519F69-6489-3164-955F-AAE7D06F36B9}"/>
              </a:ext>
            </a:extLst>
          </p:cNvPr>
          <p:cNvSpPr/>
          <p:nvPr/>
        </p:nvSpPr>
        <p:spPr>
          <a:xfrm>
            <a:off x="4765964" y="700644"/>
            <a:ext cx="2090057" cy="605642"/>
          </a:xfrm>
          <a:prstGeom prst="wedgeRectCallout">
            <a:avLst>
              <a:gd name="adj1" fmla="val 14773"/>
              <a:gd name="adj2" fmla="val 1187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面向</a:t>
            </a:r>
            <a:r>
              <a:rPr lang="en-US" altLang="zh-CN" dirty="0"/>
              <a:t>Google</a:t>
            </a:r>
            <a:r>
              <a:rPr lang="zh-CN" altLang="en-US" dirty="0"/>
              <a:t>编程时期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DE66C8CE-7F91-ECF2-82B9-39B862A95C3D}"/>
              </a:ext>
            </a:extLst>
          </p:cNvPr>
          <p:cNvSpPr/>
          <p:nvPr/>
        </p:nvSpPr>
        <p:spPr>
          <a:xfrm>
            <a:off x="6941128" y="711592"/>
            <a:ext cx="2090057" cy="605642"/>
          </a:xfrm>
          <a:prstGeom prst="wedgeRectCallout">
            <a:avLst>
              <a:gd name="adj1" fmla="val 14773"/>
              <a:gd name="adj2" fmla="val 1187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面向</a:t>
            </a:r>
            <a:r>
              <a:rPr lang="en-US" altLang="zh-CN" dirty="0"/>
              <a:t>AI</a:t>
            </a:r>
            <a:r>
              <a:rPr lang="zh-CN" altLang="en-US" dirty="0"/>
              <a:t>编程时期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News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软件开发者有望实现史上前所未有的生产力水平。</a:t>
            </a:r>
          </a:p>
          <a:p>
            <a:pPr lvl="0"/>
            <a:r>
              <a:rPr lang="zh-CN" altLang="en-US" dirty="0"/>
              <a:t>借助 </a:t>
            </a:r>
            <a:r>
              <a:rPr lang="en-US" altLang="zh-CN" dirty="0"/>
              <a:t>AI </a:t>
            </a:r>
            <a:r>
              <a:rPr lang="zh-CN" altLang="en-US" dirty="0"/>
              <a:t>辅助编程，工程师能够以前所未有的速度掌握各类技术栈与工具。</a:t>
            </a:r>
          </a:p>
          <a:p>
            <a:pPr lvl="0"/>
            <a:r>
              <a:rPr lang="zh-CN" altLang="en-US" dirty="0"/>
              <a:t>你不会被 </a:t>
            </a:r>
            <a:r>
              <a:rPr lang="en-US" altLang="zh-CN" dirty="0"/>
              <a:t>AI </a:t>
            </a:r>
            <a:r>
              <a:rPr lang="zh-CN" altLang="en-US" dirty="0"/>
              <a:t>取代，而是会被那位懂得如何运用 </a:t>
            </a:r>
            <a:r>
              <a:rPr lang="en-US" altLang="zh-CN" dirty="0"/>
              <a:t>AI </a:t>
            </a:r>
            <a:r>
              <a:rPr lang="zh-CN" altLang="en-US" dirty="0"/>
              <a:t>的优秀工程师所取代。</a:t>
            </a:r>
            <a:endParaRPr dirty="0"/>
          </a:p>
        </p:txBody>
      </p:sp>
      <p:sp>
        <p:nvSpPr>
          <p:cNvPr id="104" name="Google Shape;104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080256-78E5-CF34-8672-129662E663B5}"/>
              </a:ext>
            </a:extLst>
          </p:cNvPr>
          <p:cNvSpPr txBox="1"/>
          <p:nvPr/>
        </p:nvSpPr>
        <p:spPr>
          <a:xfrm>
            <a:off x="162246" y="2571750"/>
            <a:ext cx="88194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软件工程领域所面临的“身份危机”之一，正是源于我们对自己提出的那个问题：究竟何为真正的“开发者”？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如果你的唯一价值仅仅在于懂得如何从 </a:t>
            </a:r>
            <a:r>
              <a:rPr lang="en-US" altLang="zh-CN" dirty="0"/>
              <a:t>Stack Overflow </a:t>
            </a:r>
            <a:r>
              <a:rPr lang="zh-CN" altLang="en-US" dirty="0"/>
              <a:t>上复制粘贴代码，那么你终将被人工智能（</a:t>
            </a:r>
            <a:r>
              <a:rPr lang="en-US" altLang="zh-CN" dirty="0"/>
              <a:t>AI</a:t>
            </a:r>
            <a:r>
              <a:rPr lang="zh-CN" altLang="en-US" dirty="0"/>
              <a:t>）所取代。</a:t>
            </a:r>
          </a:p>
          <a:p>
            <a:r>
              <a:rPr lang="zh-CN" altLang="en-US" dirty="0"/>
              <a:t>但如果你具备系统性思维，能理解业务语境，并善于构思具备高鲁棒性的架构与抽象设计，那么人工智能非但不会取代你，反而会像助推火箭一般，极大地提升你的生产力。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【NLP】Transformer模型原理详解">
            <a:extLst>
              <a:ext uri="{FF2B5EF4-FFF2-40B4-BE49-F238E27FC236}">
                <a16:creationId xmlns:a16="http://schemas.microsoft.com/office/drawing/2014/main" id="{F4868CE6-0D94-30EE-340D-82D34BBCF8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7" y="619171"/>
            <a:ext cx="7830569" cy="45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9EBA7732-06E1-3193-7987-7CDFAE33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总览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002419B-9203-7291-9149-BEF561288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7" y="2076561"/>
            <a:ext cx="4102645" cy="2367446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AA4959CF-BF4E-BCD5-07B0-524473BB0DC0}"/>
              </a:ext>
            </a:extLst>
          </p:cNvPr>
          <p:cNvSpPr/>
          <p:nvPr/>
        </p:nvSpPr>
        <p:spPr>
          <a:xfrm>
            <a:off x="7158832" y="2881335"/>
            <a:ext cx="1872787" cy="939551"/>
          </a:xfrm>
          <a:prstGeom prst="wedgeRectCallout">
            <a:avLst>
              <a:gd name="adj1" fmla="val -71786"/>
              <a:gd name="adj2" fmla="val -1158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222222"/>
                </a:solidFill>
                <a:latin typeface="Arial" panose="020B0604020202020204" pitchFamily="34" charset="0"/>
              </a:rPr>
              <a:t>残差设计缓解极深网络中梯度消失</a:t>
            </a:r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/</a:t>
            </a:r>
            <a:r>
              <a:rPr lang="zh-CN" altLang="en-US" sz="800" dirty="0">
                <a:solidFill>
                  <a:srgbClr val="222222"/>
                </a:solidFill>
                <a:latin typeface="Arial" panose="020B0604020202020204" pitchFamily="34" charset="0"/>
              </a:rPr>
              <a:t>爆炸问题：</a:t>
            </a:r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He K et al. Deep residual learning for image recognition. Proceedings of the IEEE conference on computer vision and pattern recognition. 2016: 770-778.</a:t>
            </a:r>
            <a:endParaRPr lang="zh-CN" altLang="en-US" sz="800" dirty="0"/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DDCC54AD-BD99-E7E7-8D56-18439D315260}"/>
              </a:ext>
            </a:extLst>
          </p:cNvPr>
          <p:cNvSpPr/>
          <p:nvPr/>
        </p:nvSpPr>
        <p:spPr>
          <a:xfrm>
            <a:off x="7158832" y="1981200"/>
            <a:ext cx="1872787" cy="778329"/>
          </a:xfrm>
          <a:prstGeom prst="wedgeRectCallout">
            <a:avLst>
              <a:gd name="adj1" fmla="val -70972"/>
              <a:gd name="adj2" fmla="val 63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/>
              <a:t>Layer Norm</a:t>
            </a:r>
            <a:r>
              <a:rPr lang="zh-CN" altLang="en-US" sz="900" dirty="0"/>
              <a:t>逐个样本表征标准化，提升训练稳定性：</a:t>
            </a:r>
            <a:r>
              <a:rPr lang="en-US" altLang="zh-CN" sz="900" dirty="0"/>
              <a:t>Ba J L, Kiros J R, Hinton G E. Layer normalization. </a:t>
            </a:r>
            <a:r>
              <a:rPr lang="en-US" altLang="zh-CN" sz="900" dirty="0" err="1"/>
              <a:t>arXiv</a:t>
            </a:r>
            <a:r>
              <a:rPr lang="en-US" altLang="zh-CN" sz="900" dirty="0"/>
              <a:t> preprint arXiv:1607.06450, 2016.</a:t>
            </a:r>
            <a:endParaRPr lang="zh-CN" altLang="en-US" sz="9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A6BE31-2651-BF28-5D2E-007EA3C95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57" y="990914"/>
            <a:ext cx="4795157" cy="92406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FEF89D7-CB08-E88D-1F9E-7E4A345C1091}"/>
              </a:ext>
            </a:extLst>
          </p:cNvPr>
          <p:cNvSpPr txBox="1"/>
          <p:nvPr/>
        </p:nvSpPr>
        <p:spPr>
          <a:xfrm>
            <a:off x="6248846" y="2706986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Q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AC4EDF-286C-B73F-E920-CC38B533DC85}"/>
              </a:ext>
            </a:extLst>
          </p:cNvPr>
          <p:cNvSpPr txBox="1"/>
          <p:nvPr/>
        </p:nvSpPr>
        <p:spPr>
          <a:xfrm>
            <a:off x="5728211" y="2709929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672860-2629-3B8D-6CD0-5BB5148CF8F1}"/>
              </a:ext>
            </a:extLst>
          </p:cNvPr>
          <p:cNvSpPr txBox="1"/>
          <p:nvPr/>
        </p:nvSpPr>
        <p:spPr>
          <a:xfrm>
            <a:off x="5979212" y="2717258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FFA0FA-76F3-DFF4-35EB-799A037C1B61}"/>
              </a:ext>
            </a:extLst>
          </p:cNvPr>
          <p:cNvSpPr txBox="1"/>
          <p:nvPr/>
        </p:nvSpPr>
        <p:spPr>
          <a:xfrm>
            <a:off x="6254286" y="3532675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Q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EE3BFE-BA45-5EF8-6271-AD8D7524FECD}"/>
              </a:ext>
            </a:extLst>
          </p:cNvPr>
          <p:cNvSpPr txBox="1"/>
          <p:nvPr/>
        </p:nvSpPr>
        <p:spPr>
          <a:xfrm>
            <a:off x="5760869" y="3535618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4BB9ECD-F627-68C3-9DE3-37260E5A4E6D}"/>
              </a:ext>
            </a:extLst>
          </p:cNvPr>
          <p:cNvSpPr txBox="1"/>
          <p:nvPr/>
        </p:nvSpPr>
        <p:spPr>
          <a:xfrm>
            <a:off x="6011870" y="3542947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3925E0-2E38-7F2F-4833-9FE7E2F4694B}"/>
              </a:ext>
            </a:extLst>
          </p:cNvPr>
          <p:cNvSpPr txBox="1"/>
          <p:nvPr/>
        </p:nvSpPr>
        <p:spPr>
          <a:xfrm>
            <a:off x="5223194" y="3542947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Q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8A51031-BBE6-FAC6-7F34-3FB5A09F1E9C}"/>
              </a:ext>
            </a:extLst>
          </p:cNvPr>
          <p:cNvSpPr txBox="1"/>
          <p:nvPr/>
        </p:nvSpPr>
        <p:spPr>
          <a:xfrm>
            <a:off x="4729777" y="3545890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09A6F9-7B46-1234-F868-7866E6B9BF01}"/>
              </a:ext>
            </a:extLst>
          </p:cNvPr>
          <p:cNvSpPr txBox="1"/>
          <p:nvPr/>
        </p:nvSpPr>
        <p:spPr>
          <a:xfrm>
            <a:off x="4980778" y="3553219"/>
            <a:ext cx="310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</a:rPr>
              <a:t>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9B7A04-D8E2-5E0E-F897-887E8F7510F8}"/>
              </a:ext>
            </a:extLst>
          </p:cNvPr>
          <p:cNvSpPr txBox="1"/>
          <p:nvPr/>
        </p:nvSpPr>
        <p:spPr>
          <a:xfrm>
            <a:off x="7010176" y="365255"/>
            <a:ext cx="18727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Transformer</a:t>
            </a:r>
            <a:r>
              <a:rPr lang="zh-CN" altLang="en-US" sz="1050" dirty="0"/>
              <a:t>不是一日建成的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AFE73155-0965-AE53-BE17-F5DB3CD01CFD}"/>
              </a:ext>
            </a:extLst>
          </p:cNvPr>
          <p:cNvSpPr/>
          <p:nvPr/>
        </p:nvSpPr>
        <p:spPr>
          <a:xfrm>
            <a:off x="6776851" y="639726"/>
            <a:ext cx="2339439" cy="1159700"/>
          </a:xfrm>
          <a:prstGeom prst="wedgeRectCallout">
            <a:avLst>
              <a:gd name="adj1" fmla="val -46998"/>
              <a:gd name="adj2" fmla="val 633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/>
              <a:t>Encoder-Decoder</a:t>
            </a:r>
            <a:r>
              <a:rPr lang="zh-CN" altLang="en-US" sz="900" dirty="0"/>
              <a:t>架构：</a:t>
            </a:r>
            <a:r>
              <a:rPr lang="en-US" altLang="zh-CN" sz="900" dirty="0"/>
              <a:t>Cho K, Van </a:t>
            </a:r>
            <a:r>
              <a:rPr lang="en-US" altLang="zh-CN" sz="900" dirty="0" err="1"/>
              <a:t>Merriënboer</a:t>
            </a:r>
            <a:r>
              <a:rPr lang="en-US" altLang="zh-CN" sz="900" dirty="0"/>
              <a:t> B, </a:t>
            </a:r>
            <a:r>
              <a:rPr lang="en-US" altLang="zh-CN" sz="900" dirty="0" err="1"/>
              <a:t>Gulçehre</a:t>
            </a:r>
            <a:r>
              <a:rPr lang="en-US" altLang="zh-CN" sz="900" dirty="0"/>
              <a:t> Ç, et al. Learning phrase representations using RNN encoder–decoder for statistical machine translation[C]//Proceedings of the 2014 conference on empirical methods in natural language processing (EMNLP). 2014: 1724-1734.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3405B7-ECFB-8178-C1C9-4A8FA55FD87B}"/>
              </a:ext>
            </a:extLst>
          </p:cNvPr>
          <p:cNvSpPr/>
          <p:nvPr/>
        </p:nvSpPr>
        <p:spPr>
          <a:xfrm>
            <a:off x="4762005" y="3309257"/>
            <a:ext cx="815690" cy="443346"/>
          </a:xfrm>
          <a:prstGeom prst="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对话气泡: 椭圆形 20">
            <a:extLst>
              <a:ext uri="{FF2B5EF4-FFF2-40B4-BE49-F238E27FC236}">
                <a16:creationId xmlns:a16="http://schemas.microsoft.com/office/drawing/2014/main" id="{412FD4E5-13E5-3563-1D23-2C6D55E38AD7}"/>
              </a:ext>
            </a:extLst>
          </p:cNvPr>
          <p:cNvSpPr/>
          <p:nvPr/>
        </p:nvSpPr>
        <p:spPr>
          <a:xfrm>
            <a:off x="3249881" y="4444007"/>
            <a:ext cx="1287986" cy="292430"/>
          </a:xfrm>
          <a:prstGeom prst="wedgeEllipseCallout">
            <a:avLst>
              <a:gd name="adj1" fmla="val 88971"/>
              <a:gd name="adj2" fmla="val -2704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关键模块</a:t>
            </a:r>
          </a:p>
        </p:txBody>
      </p:sp>
    </p:spTree>
    <p:extLst>
      <p:ext uri="{BB962C8B-B14F-4D97-AF65-F5344CB8AC3E}">
        <p14:creationId xmlns:p14="http://schemas.microsoft.com/office/powerpoint/2010/main" val="216043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F0771C-1507-33F6-29BE-1A8231FB1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3493"/>
            <a:ext cx="7886700" cy="4239230"/>
          </a:xfrm>
        </p:spPr>
        <p:txBody>
          <a:bodyPr/>
          <a:lstStyle/>
          <a:p>
            <a:r>
              <a:rPr lang="zh-CN" altLang="en-US" dirty="0"/>
              <a:t>注意力机制的前向传播过程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DC14AD-4556-003A-E1BB-50326402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95" y="2828522"/>
            <a:ext cx="2075705" cy="1578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E8F8E8-F37A-234F-4B33-11C64B3E6789}"/>
                  </a:ext>
                </a:extLst>
              </p:cNvPr>
              <p:cNvSpPr txBox="1"/>
              <p:nvPr/>
            </p:nvSpPr>
            <p:spPr>
              <a:xfrm>
                <a:off x="300542" y="4553467"/>
                <a:ext cx="5018315" cy="530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逐个通过线性层（</a:t>
                </a:r>
                <a:r>
                  <a:rPr lang="en-US" altLang="zh-CN" dirty="0"/>
                  <a:t>Linear Layer</a:t>
                </a:r>
                <a:r>
                  <a:rPr lang="zh-CN" altLang="en-US" dirty="0"/>
                  <a:t>）得到</a:t>
                </a:r>
                <a:r>
                  <a:rPr lang="en-US" altLang="zh-CN" dirty="0"/>
                  <a:t>Q,K,V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  <m:r>
                        <a:rPr lang="zh-CN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6E8F8E8-F37A-234F-4B33-11C64B3E6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42" y="4553467"/>
                <a:ext cx="5018315" cy="530145"/>
              </a:xfrm>
              <a:prstGeom prst="rect">
                <a:avLst/>
              </a:prstGeom>
              <a:blipFill>
                <a:blip r:embed="rId3"/>
                <a:stretch>
                  <a:fillRect l="-364" t="-2299" b="-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B651B69E-DBC3-5DDA-38B9-DE048D4B4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437" y="1753439"/>
            <a:ext cx="5137879" cy="26181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40BAED-A03F-5D2B-0515-9FDF0112A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10" y="1250231"/>
            <a:ext cx="2655490" cy="462487"/>
          </a:xfrm>
          <a:prstGeom prst="rect">
            <a:avLst/>
          </a:prstGeom>
        </p:spPr>
      </p:pic>
      <p:sp>
        <p:nvSpPr>
          <p:cNvPr id="8" name="流程图: 可选过程 7">
            <a:extLst>
              <a:ext uri="{FF2B5EF4-FFF2-40B4-BE49-F238E27FC236}">
                <a16:creationId xmlns:a16="http://schemas.microsoft.com/office/drawing/2014/main" id="{4518687C-22B4-612F-1B45-A2689AFA26E4}"/>
              </a:ext>
            </a:extLst>
          </p:cNvPr>
          <p:cNvSpPr/>
          <p:nvPr/>
        </p:nvSpPr>
        <p:spPr>
          <a:xfrm>
            <a:off x="3042556" y="1343308"/>
            <a:ext cx="1171963" cy="23876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SOFTMAX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601B13B-5A84-75CE-BA53-767626AEE38D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3358242" y="1582076"/>
            <a:ext cx="270296" cy="2122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250AC9E-1617-F5E2-CED9-246ACB20430D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3628538" y="1582076"/>
            <a:ext cx="947121" cy="2612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C081140-9A87-D51A-16E8-05C34B294645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3628538" y="1582076"/>
            <a:ext cx="2265231" cy="2612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223EA85-407A-D841-61E5-3AA6C9BBEF07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3628538" y="1582076"/>
            <a:ext cx="3702989" cy="3033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6A92A14-1DCE-4FFB-1727-92DC4907644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214519" y="1462692"/>
            <a:ext cx="4391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0F3ABB8-8C95-5C87-2E85-9CC3682E5C07}"/>
                  </a:ext>
                </a:extLst>
              </p:cNvPr>
              <p:cNvSpPr txBox="1"/>
              <p:nvPr/>
            </p:nvSpPr>
            <p:spPr>
              <a:xfrm>
                <a:off x="4607412" y="1304090"/>
                <a:ext cx="1706301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0F3ABB8-8C95-5C87-2E85-9CC3682E5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412" y="1304090"/>
                <a:ext cx="1706301" cy="317203"/>
              </a:xfrm>
              <a:prstGeom prst="rect">
                <a:avLst/>
              </a:prstGeom>
              <a:blipFill>
                <a:blip r:embed="rId6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AF73CE4-CB4A-0B86-1757-17C6BA14327A}"/>
                  </a:ext>
                </a:extLst>
              </p:cNvPr>
              <p:cNvSpPr txBox="1"/>
              <p:nvPr/>
            </p:nvSpPr>
            <p:spPr>
              <a:xfrm>
                <a:off x="106220" y="1843360"/>
                <a:ext cx="2579949" cy="551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Scaled dot-product attention:</a:t>
                </a:r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e>
                    </m:rad>
                  </m:oMath>
                </a14:m>
                <a:r>
                  <a:rPr lang="en-US" altLang="zh-CN" dirty="0"/>
                  <a:t> (</a:t>
                </a:r>
                <a:r>
                  <a:rPr lang="zh-CN" altLang="en-US" dirty="0"/>
                  <a:t>标量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AF73CE4-CB4A-0B86-1757-17C6BA143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20" y="1843360"/>
                <a:ext cx="2579949" cy="551561"/>
              </a:xfrm>
              <a:prstGeom prst="rect">
                <a:avLst/>
              </a:prstGeom>
              <a:blipFill>
                <a:blip r:embed="rId7"/>
                <a:stretch>
                  <a:fillRect l="-708" t="-1099" r="-2830" b="-8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>
            <a:extLst>
              <a:ext uri="{FF2B5EF4-FFF2-40B4-BE49-F238E27FC236}">
                <a16:creationId xmlns:a16="http://schemas.microsoft.com/office/drawing/2014/main" id="{4A2723FB-1F96-3BE2-0DB0-A7B4D37984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669" y="1121812"/>
            <a:ext cx="1675931" cy="603335"/>
          </a:xfrm>
          <a:prstGeom prst="rect">
            <a:avLst/>
          </a:prstGeom>
        </p:spPr>
      </p:pic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154DDA8-6730-5B09-0FBD-813250F80FBB}"/>
              </a:ext>
            </a:extLst>
          </p:cNvPr>
          <p:cNvCxnSpPr>
            <a:cxnSpLocks/>
          </p:cNvCxnSpPr>
          <p:nvPr/>
        </p:nvCxnSpPr>
        <p:spPr>
          <a:xfrm>
            <a:off x="6255590" y="1481474"/>
            <a:ext cx="4391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0E12B29-E77A-1C37-5418-D879DCC53028}"/>
                  </a:ext>
                </a:extLst>
              </p:cNvPr>
              <p:cNvSpPr txBox="1"/>
              <p:nvPr/>
            </p:nvSpPr>
            <p:spPr>
              <a:xfrm>
                <a:off x="5747657" y="799375"/>
                <a:ext cx="3290123" cy="281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dirty="0"/>
                  <a:t>计算第一个 </a:t>
                </a:r>
                <a:r>
                  <a:rPr lang="en-US" altLang="zh-CN" sz="1200" dirty="0"/>
                  <a:t>token </a:t>
                </a:r>
                <a:r>
                  <a:rPr lang="zh-CN" altLang="en-US" sz="1200" dirty="0"/>
                  <a:t>的新表征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sz="12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 altLang="zh-CN" sz="12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p>
                    </m:sSup>
                  </m:oMath>
                </a14:m>
                <a:r>
                  <a:rPr lang="ar-AE" altLang="zh-CN" sz="1200" dirty="0"/>
                  <a:t> </a:t>
                </a:r>
                <a:endParaRPr lang="zh-CN" altLang="en-US" sz="12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0E12B29-E77A-1C37-5418-D879DCC53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57" y="799375"/>
                <a:ext cx="3290123" cy="281167"/>
              </a:xfrm>
              <a:prstGeom prst="rect">
                <a:avLst/>
              </a:prstGeom>
              <a:blipFill>
                <a:blip r:embed="rId9"/>
                <a:stretch>
                  <a:fillRect l="-18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91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C811AB-0B1C-2CA8-6083-BDC1E375A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07" y="293424"/>
            <a:ext cx="6060857" cy="455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63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7BEE010F-8A28-40F1-315B-3772208C4EFA}"/>
              </a:ext>
            </a:extLst>
          </p:cNvPr>
          <p:cNvCxnSpPr>
            <a:cxnSpLocks/>
          </p:cNvCxnSpPr>
          <p:nvPr/>
        </p:nvCxnSpPr>
        <p:spPr>
          <a:xfrm>
            <a:off x="5157398" y="1096774"/>
            <a:ext cx="367341" cy="3200864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9E611A58-89BC-BDA5-A533-FE33B4BD4C8E}"/>
              </a:ext>
            </a:extLst>
          </p:cNvPr>
          <p:cNvCxnSpPr>
            <a:cxnSpLocks/>
            <a:stCxn id="230" idx="3"/>
            <a:endCxn id="203" idx="1"/>
          </p:cNvCxnSpPr>
          <p:nvPr/>
        </p:nvCxnSpPr>
        <p:spPr>
          <a:xfrm>
            <a:off x="4254835" y="1086164"/>
            <a:ext cx="257625" cy="3211474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曲线 35">
            <a:extLst>
              <a:ext uri="{FF2B5EF4-FFF2-40B4-BE49-F238E27FC236}">
                <a16:creationId xmlns:a16="http://schemas.microsoft.com/office/drawing/2014/main" id="{2F27CB03-02E2-EC68-CEC2-23AF965A6FFC}"/>
              </a:ext>
            </a:extLst>
          </p:cNvPr>
          <p:cNvCxnSpPr>
            <a:cxnSpLocks/>
            <a:stCxn id="229" idx="3"/>
            <a:endCxn id="201" idx="1"/>
          </p:cNvCxnSpPr>
          <p:nvPr/>
        </p:nvCxnSpPr>
        <p:spPr>
          <a:xfrm>
            <a:off x="2943295" y="1106973"/>
            <a:ext cx="367341" cy="3200864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Google Shape;235;p28"/>
          <p:cNvCxnSpPr>
            <a:cxnSpLocks/>
            <a:endCxn id="228" idx="2"/>
          </p:cNvCxnSpPr>
          <p:nvPr/>
        </p:nvCxnSpPr>
        <p:spPr>
          <a:xfrm flipV="1">
            <a:off x="6090659" y="1607979"/>
            <a:ext cx="0" cy="16998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" name="Google Shape;234;p28"/>
          <p:cNvCxnSpPr>
            <a:cxnSpLocks/>
            <a:endCxn id="231" idx="2"/>
          </p:cNvCxnSpPr>
          <p:nvPr/>
        </p:nvCxnSpPr>
        <p:spPr>
          <a:xfrm flipH="1" flipV="1">
            <a:off x="4776645" y="1598716"/>
            <a:ext cx="29254" cy="17093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233;p28"/>
          <p:cNvCxnSpPr>
            <a:cxnSpLocks/>
          </p:cNvCxnSpPr>
          <p:nvPr/>
        </p:nvCxnSpPr>
        <p:spPr>
          <a:xfrm flipH="1" flipV="1">
            <a:off x="3697116" y="1607979"/>
            <a:ext cx="29254" cy="17093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p28"/>
          <p:cNvCxnSpPr>
            <a:cxnSpLocks/>
            <a:endCxn id="229" idx="2"/>
          </p:cNvCxnSpPr>
          <p:nvPr/>
        </p:nvCxnSpPr>
        <p:spPr>
          <a:xfrm flipV="1">
            <a:off x="2385332" y="1617468"/>
            <a:ext cx="0" cy="16904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" name="Google Shape;196;p28"/>
          <p:cNvSpPr/>
          <p:nvPr/>
        </p:nvSpPr>
        <p:spPr>
          <a:xfrm>
            <a:off x="278983" y="4146588"/>
            <a:ext cx="2691956" cy="30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title"/>
          </p:nvPr>
        </p:nvSpPr>
        <p:spPr>
          <a:xfrm>
            <a:off x="32950" y="2241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Decoder-only LLM </a:t>
            </a:r>
            <a:r>
              <a:rPr lang="zh-CN" altLang="en-US" dirty="0"/>
              <a:t>结构</a:t>
            </a:r>
            <a:endParaRPr dirty="0"/>
          </a:p>
        </p:txBody>
      </p:sp>
      <p:sp>
        <p:nvSpPr>
          <p:cNvPr id="198" name="Google Shape;198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222876" y="4114113"/>
            <a:ext cx="2796611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enerate a QuickSort algorithm in C++ 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3310636" y="4156787"/>
            <a:ext cx="702300" cy="30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3505600" y="4130238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# 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4512460" y="4146588"/>
            <a:ext cx="700716" cy="30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4527773" y="4130238"/>
            <a:ext cx="708113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include 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5539062" y="4168981"/>
            <a:ext cx="702300" cy="30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717037" y="4152631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… 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1748350" y="3308100"/>
            <a:ext cx="4831500" cy="3963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8"/>
          <p:cNvCxnSpPr/>
          <p:nvPr/>
        </p:nvCxnSpPr>
        <p:spPr>
          <a:xfrm rot="10800000">
            <a:off x="2259956" y="3759213"/>
            <a:ext cx="0" cy="2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p28"/>
          <p:cNvCxnSpPr/>
          <p:nvPr/>
        </p:nvCxnSpPr>
        <p:spPr>
          <a:xfrm rot="10800000">
            <a:off x="3705068" y="3733938"/>
            <a:ext cx="0" cy="2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p28"/>
          <p:cNvCxnSpPr/>
          <p:nvPr/>
        </p:nvCxnSpPr>
        <p:spPr>
          <a:xfrm rot="10800000">
            <a:off x="4805900" y="3767275"/>
            <a:ext cx="0" cy="2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28"/>
          <p:cNvCxnSpPr/>
          <p:nvPr/>
        </p:nvCxnSpPr>
        <p:spPr>
          <a:xfrm rot="10800000">
            <a:off x="6025100" y="3759213"/>
            <a:ext cx="0" cy="2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" name="Google Shape;212;p28"/>
          <p:cNvSpPr txBox="1"/>
          <p:nvPr/>
        </p:nvSpPr>
        <p:spPr>
          <a:xfrm>
            <a:off x="2676278" y="3312903"/>
            <a:ext cx="3233943" cy="330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Embedding Layer (vocab*d_model)</a:t>
            </a: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1748350" y="2376760"/>
            <a:ext cx="4831500" cy="74543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Transformer Block</a:t>
            </a:r>
            <a:r>
              <a:rPr lang="en-US" altLang="zh-CN" dirty="0"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(self-attention, </a:t>
            </a:r>
            <a:r>
              <a:rPr lang="zh-CN" altLang="en-US" dirty="0">
                <a:latin typeface="Roboto"/>
                <a:ea typeface="Roboto"/>
                <a:cs typeface="Roboto"/>
                <a:sym typeface="Roboto"/>
              </a:rPr>
              <a:t>类似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d_model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d_model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)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28" name="Google Shape;228;p28"/>
          <p:cNvGraphicFramePr/>
          <p:nvPr>
            <p:extLst>
              <p:ext uri="{D42A27DB-BD31-4B8C-83A1-F6EECF244321}">
                <p14:modId xmlns:p14="http://schemas.microsoft.com/office/powerpoint/2010/main" val="3109644790"/>
              </p:ext>
            </p:extLst>
          </p:nvPr>
        </p:nvGraphicFramePr>
        <p:xfrm>
          <a:off x="5576220" y="586989"/>
          <a:ext cx="1028878" cy="1020990"/>
        </p:xfrm>
        <a:graphic>
          <a:graphicData uri="http://schemas.openxmlformats.org/drawingml/2006/table">
            <a:tbl>
              <a:tblPr>
                <a:noFill/>
                <a:tableStyleId>{590FF99E-8C1A-4983-B79C-175BB654F4FD}</a:tableStyleId>
              </a:tblPr>
              <a:tblGrid>
                <a:gridCol w="40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0.3</a:t>
                      </a:r>
                      <a:endParaRPr sz="1000" dirty="0"/>
                    </a:p>
                  </a:txBody>
                  <a:tcPr marL="91425" marR="91425" marT="91425" marB="91425">
                    <a:lnB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the</a:t>
                      </a:r>
                      <a:endParaRPr sz="1000" dirty="0"/>
                    </a:p>
                  </a:txBody>
                  <a:tcPr marL="91425" marR="91425" marT="91425" marB="91425">
                    <a:lnB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&lt;EOS&gt;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E0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9" name="Google Shape;229;p28"/>
          <p:cNvGraphicFramePr/>
          <p:nvPr>
            <p:extLst>
              <p:ext uri="{D42A27DB-BD31-4B8C-83A1-F6EECF244321}">
                <p14:modId xmlns:p14="http://schemas.microsoft.com/office/powerpoint/2010/main" val="171000823"/>
              </p:ext>
            </p:extLst>
          </p:nvPr>
        </p:nvGraphicFramePr>
        <p:xfrm>
          <a:off x="1827369" y="596478"/>
          <a:ext cx="1115926" cy="1020990"/>
        </p:xfrm>
        <a:graphic>
          <a:graphicData uri="http://schemas.openxmlformats.org/drawingml/2006/table">
            <a:tbl>
              <a:tblPr>
                <a:noFill/>
                <a:tableStyleId>{590FF99E-8C1A-4983-B79C-175BB654F4FD}</a:tableStyleId>
              </a:tblPr>
              <a:tblGrid>
                <a:gridCol w="55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0.1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import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0.8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#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0.1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in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0" name="Google Shape;230;p28"/>
          <p:cNvGraphicFramePr/>
          <p:nvPr>
            <p:extLst>
              <p:ext uri="{D42A27DB-BD31-4B8C-83A1-F6EECF244321}">
                <p14:modId xmlns:p14="http://schemas.microsoft.com/office/powerpoint/2010/main" val="2356655446"/>
              </p:ext>
            </p:extLst>
          </p:nvPr>
        </p:nvGraphicFramePr>
        <p:xfrm>
          <a:off x="3221815" y="575669"/>
          <a:ext cx="1033020" cy="1020990"/>
        </p:xfrm>
        <a:graphic>
          <a:graphicData uri="http://schemas.openxmlformats.org/drawingml/2006/table">
            <a:tbl>
              <a:tblPr>
                <a:noFill/>
                <a:tableStyleId>{590FF99E-8C1A-4983-B79C-175BB654F4FD}</a:tableStyleId>
              </a:tblPr>
              <a:tblGrid>
                <a:gridCol w="40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0.6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include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0.1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0.1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good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" name="Google Shape;231;p28"/>
          <p:cNvGraphicFramePr/>
          <p:nvPr>
            <p:extLst>
              <p:ext uri="{D42A27DB-BD31-4B8C-83A1-F6EECF244321}">
                <p14:modId xmlns:p14="http://schemas.microsoft.com/office/powerpoint/2010/main" val="2043428051"/>
              </p:ext>
            </p:extLst>
          </p:nvPr>
        </p:nvGraphicFramePr>
        <p:xfrm>
          <a:off x="4393795" y="577726"/>
          <a:ext cx="765700" cy="1020990"/>
        </p:xfrm>
        <a:graphic>
          <a:graphicData uri="http://schemas.openxmlformats.org/drawingml/2006/table">
            <a:tbl>
              <a:tblPr>
                <a:noFill/>
                <a:tableStyleId>{590FF99E-8C1A-4983-B79C-175BB654F4FD}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0.1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if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0.7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0.1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for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6" name="Google Shape;236;p28"/>
          <p:cNvSpPr txBox="1"/>
          <p:nvPr/>
        </p:nvSpPr>
        <p:spPr>
          <a:xfrm>
            <a:off x="6758262" y="4156787"/>
            <a:ext cx="2433554" cy="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对文本序列进行词元化（</a:t>
            </a:r>
            <a:r>
              <a:rPr lang="en-US" altLang="zh-CN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Tokenization</a:t>
            </a: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）</a:t>
            </a:r>
            <a:endParaRPr sz="1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700156" y="3392550"/>
            <a:ext cx="2443844" cy="27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将</a:t>
            </a:r>
            <a:r>
              <a:rPr lang="en-US" altLang="zh-CN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</a:t>
            </a: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逐个转换为固定维度的数值向量</a:t>
            </a:r>
            <a:endParaRPr sz="1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28"/>
              <p:cNvSpPr txBox="1"/>
              <p:nvPr/>
            </p:nvSpPr>
            <p:spPr>
              <a:xfrm>
                <a:off x="6590775" y="2635702"/>
                <a:ext cx="460348" cy="2777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000" i="1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Roboto"/>
                        <a:sym typeface="Roboto"/>
                      </a:rPr>
                      <m:t>×</m:t>
                    </m:r>
                  </m:oMath>
                </a14:m>
                <a:r>
                  <a:rPr lang="en-US" sz="1000" dirty="0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rPr>
                  <a:t> N</a:t>
                </a:r>
                <a:endParaRPr sz="1000" dirty="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38" name="Google Shape;238;p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775" y="2635702"/>
                <a:ext cx="460348" cy="277758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28"/>
          <p:cNvSpPr txBox="1"/>
          <p:nvPr/>
        </p:nvSpPr>
        <p:spPr>
          <a:xfrm>
            <a:off x="6863895" y="787851"/>
            <a:ext cx="2307300" cy="48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得到整个词表上的概率分布</a:t>
            </a:r>
            <a:endParaRPr sz="1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0A7C5B-070F-67ED-74F9-7F27D2A3F3DD}"/>
              </a:ext>
            </a:extLst>
          </p:cNvPr>
          <p:cNvSpPr/>
          <p:nvPr/>
        </p:nvSpPr>
        <p:spPr>
          <a:xfrm>
            <a:off x="157845" y="4042113"/>
            <a:ext cx="2950389" cy="535062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FD1D7D-FE2C-5ED6-F3B6-E6DAE072D8EA}"/>
              </a:ext>
            </a:extLst>
          </p:cNvPr>
          <p:cNvSpPr/>
          <p:nvPr/>
        </p:nvSpPr>
        <p:spPr>
          <a:xfrm>
            <a:off x="1766500" y="1721812"/>
            <a:ext cx="4831500" cy="2246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SOFTMAX</a:t>
            </a:r>
            <a:endParaRPr lang="zh-CN" altLang="en-US" dirty="0"/>
          </a:p>
        </p:txBody>
      </p:sp>
      <p:sp>
        <p:nvSpPr>
          <p:cNvPr id="23" name="Google Shape;238;p28">
            <a:extLst>
              <a:ext uri="{FF2B5EF4-FFF2-40B4-BE49-F238E27FC236}">
                <a16:creationId xmlns:a16="http://schemas.microsoft.com/office/drawing/2014/main" id="{A7EA898C-B195-E840-AD4E-7282BCAB48B4}"/>
              </a:ext>
            </a:extLst>
          </p:cNvPr>
          <p:cNvSpPr txBox="1"/>
          <p:nvPr/>
        </p:nvSpPr>
        <p:spPr>
          <a:xfrm>
            <a:off x="6623248" y="1670759"/>
            <a:ext cx="2307300" cy="27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logits</a:t>
            </a: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归一化</a:t>
            </a:r>
            <a:endParaRPr sz="1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1E48080-D052-4173-792D-F703429A3894}"/>
              </a:ext>
            </a:extLst>
          </p:cNvPr>
          <p:cNvSpPr/>
          <p:nvPr/>
        </p:nvSpPr>
        <p:spPr>
          <a:xfrm>
            <a:off x="1759275" y="2015417"/>
            <a:ext cx="4831500" cy="2246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Linear Layer (</a:t>
            </a:r>
            <a:r>
              <a:rPr lang="en-US" altLang="zh-CN" dirty="0" err="1"/>
              <a:t>d_model</a:t>
            </a:r>
            <a:r>
              <a:rPr lang="en-US" altLang="zh-CN" dirty="0"/>
              <a:t>*vocab)</a:t>
            </a:r>
            <a:endParaRPr lang="zh-CN" altLang="en-US" dirty="0"/>
          </a:p>
        </p:txBody>
      </p:sp>
      <p:sp>
        <p:nvSpPr>
          <p:cNvPr id="34" name="Google Shape;238;p28">
            <a:extLst>
              <a:ext uri="{FF2B5EF4-FFF2-40B4-BE49-F238E27FC236}">
                <a16:creationId xmlns:a16="http://schemas.microsoft.com/office/drawing/2014/main" id="{0A71C588-A13D-E249-DD50-2ECD140AC367}"/>
              </a:ext>
            </a:extLst>
          </p:cNvPr>
          <p:cNvSpPr txBox="1"/>
          <p:nvPr/>
        </p:nvSpPr>
        <p:spPr>
          <a:xfrm>
            <a:off x="73585" y="2632039"/>
            <a:ext cx="962724" cy="27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Prefill stage</a:t>
            </a:r>
            <a:endParaRPr sz="1000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238;p28">
            <a:extLst>
              <a:ext uri="{FF2B5EF4-FFF2-40B4-BE49-F238E27FC236}">
                <a16:creationId xmlns:a16="http://schemas.microsoft.com/office/drawing/2014/main" id="{4E1A9B90-5F7F-7B10-4A8A-1285E30FF6A9}"/>
              </a:ext>
            </a:extLst>
          </p:cNvPr>
          <p:cNvSpPr txBox="1"/>
          <p:nvPr/>
        </p:nvSpPr>
        <p:spPr>
          <a:xfrm>
            <a:off x="6605098" y="1942326"/>
            <a:ext cx="2443841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逐个</a:t>
            </a:r>
            <a:r>
              <a:rPr lang="en-US" altLang="zh-CN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</a:t>
            </a: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的维度 </a:t>
            </a:r>
            <a:r>
              <a:rPr lang="en-US" altLang="zh-CN" sz="1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d_model</a:t>
            </a:r>
            <a:r>
              <a:rPr lang="en-US" altLang="zh-CN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线性变换为词表大小（</a:t>
            </a:r>
            <a:r>
              <a:rPr lang="en-US" altLang="zh-CN" sz="1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vocab_size</a:t>
            </a:r>
            <a:r>
              <a:rPr lang="zh-CN" altLang="en-US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），从而为每个位置生成 </a:t>
            </a:r>
            <a:r>
              <a:rPr lang="en-US" altLang="zh-CN" sz="1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logits</a:t>
            </a:r>
            <a:endParaRPr sz="1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E1BA629-917E-12B7-BE94-EBFA18F7DE56}"/>
              </a:ext>
            </a:extLst>
          </p:cNvPr>
          <p:cNvSpPr/>
          <p:nvPr/>
        </p:nvSpPr>
        <p:spPr>
          <a:xfrm>
            <a:off x="149775" y="4036152"/>
            <a:ext cx="3976248" cy="53506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6A6A6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3EB97F9-2389-50CE-6986-5618543C7451}"/>
              </a:ext>
            </a:extLst>
          </p:cNvPr>
          <p:cNvSpPr/>
          <p:nvPr/>
        </p:nvSpPr>
        <p:spPr>
          <a:xfrm>
            <a:off x="157844" y="4042113"/>
            <a:ext cx="5132611" cy="53506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90592EC-EC8F-3E0B-CFE7-86D07B05E9B6}"/>
              </a:ext>
            </a:extLst>
          </p:cNvPr>
          <p:cNvSpPr/>
          <p:nvPr/>
        </p:nvSpPr>
        <p:spPr>
          <a:xfrm>
            <a:off x="157844" y="4047613"/>
            <a:ext cx="6188526" cy="53506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Google Shape;238;p28">
            <a:extLst>
              <a:ext uri="{FF2B5EF4-FFF2-40B4-BE49-F238E27FC236}">
                <a16:creationId xmlns:a16="http://schemas.microsoft.com/office/drawing/2014/main" id="{E9A93A1A-EADF-B9EB-086B-9E317F93317A}"/>
              </a:ext>
            </a:extLst>
          </p:cNvPr>
          <p:cNvSpPr txBox="1"/>
          <p:nvPr/>
        </p:nvSpPr>
        <p:spPr>
          <a:xfrm>
            <a:off x="2601825" y="4493486"/>
            <a:ext cx="1950780" cy="27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Decode stage</a:t>
            </a:r>
            <a:r>
              <a:rPr lang="zh-CN" altLang="en-US" sz="10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第一个词：</a:t>
            </a:r>
            <a:r>
              <a:rPr lang="en-US" altLang="zh-CN" sz="10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sz="10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829D696-1606-50ED-65AF-E4DE26EB2D16}"/>
              </a:ext>
            </a:extLst>
          </p:cNvPr>
          <p:cNvSpPr txBox="1"/>
          <p:nvPr/>
        </p:nvSpPr>
        <p:spPr>
          <a:xfrm>
            <a:off x="72035" y="2868423"/>
            <a:ext cx="162483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0" dirty="0">
                <a:solidFill>
                  <a:srgbClr val="0F1115"/>
                </a:solidFill>
                <a:effectLst/>
                <a:latin typeface="quote-cjk-patch"/>
              </a:rPr>
              <a:t>推理</a:t>
            </a:r>
            <a:r>
              <a:rPr lang="zh-CN" altLang="en-US" sz="1000" dirty="0">
                <a:solidFill>
                  <a:srgbClr val="0F1115"/>
                </a:solidFill>
                <a:latin typeface="quote-cjk-patch"/>
              </a:rPr>
              <a:t>时，尽管每个位置都会生成</a:t>
            </a:r>
            <a:r>
              <a:rPr lang="en-US" altLang="zh-CN" sz="1000" dirty="0">
                <a:solidFill>
                  <a:srgbClr val="0F1115"/>
                </a:solidFill>
                <a:latin typeface="quote-cjk-patch"/>
              </a:rPr>
              <a:t>logits</a:t>
            </a:r>
            <a:r>
              <a:rPr lang="zh-CN" altLang="en-US" sz="1000" dirty="0">
                <a:solidFill>
                  <a:srgbClr val="0F1115"/>
                </a:solidFill>
                <a:latin typeface="quote-cjk-patch"/>
              </a:rPr>
              <a:t>，但</a:t>
            </a:r>
            <a:r>
              <a:rPr lang="zh-CN" altLang="en-US" sz="1000" i="0" dirty="0">
                <a:solidFill>
                  <a:srgbClr val="0F1115"/>
                </a:solidFill>
                <a:effectLst/>
                <a:latin typeface="quote-cjk-patch"/>
              </a:rPr>
              <a:t>只会取最后一个位置的输出</a:t>
            </a:r>
            <a:r>
              <a:rPr lang="en-US" altLang="zh-CN" sz="1000" i="0" dirty="0">
                <a:solidFill>
                  <a:srgbClr val="0F1115"/>
                </a:solidFill>
                <a:effectLst/>
                <a:latin typeface="quote-cjk-patch"/>
              </a:rPr>
              <a:t>logits</a:t>
            </a:r>
            <a:r>
              <a:rPr lang="zh-CN" altLang="en-US" sz="1000" i="0" dirty="0">
                <a:solidFill>
                  <a:srgbClr val="0F1115"/>
                </a:solidFill>
                <a:effectLst/>
                <a:latin typeface="quote-cjk-patch"/>
              </a:rPr>
              <a:t>来采样第一个新 </a:t>
            </a:r>
            <a:r>
              <a:rPr lang="en-US" altLang="zh-CN" sz="1000" i="0" dirty="0">
                <a:solidFill>
                  <a:srgbClr val="0F1115"/>
                </a:solidFill>
                <a:effectLst/>
                <a:latin typeface="quote-cjk-patch"/>
              </a:rPr>
              <a:t>token</a:t>
            </a:r>
            <a:r>
              <a:rPr lang="zh-CN" altLang="en-US" sz="1000" i="0" dirty="0">
                <a:solidFill>
                  <a:srgbClr val="0F1115"/>
                </a:solidFill>
                <a:effectLst/>
                <a:latin typeface="quote-cjk-patch"/>
              </a:rPr>
              <a:t>（如</a:t>
            </a:r>
            <a:r>
              <a:rPr lang="en-US" altLang="zh-CN" sz="1000" i="0" dirty="0">
                <a:solidFill>
                  <a:srgbClr val="0F1115"/>
                </a:solidFill>
                <a:effectLst/>
                <a:latin typeface="quote-cjk-patch"/>
              </a:rPr>
              <a:t>#</a:t>
            </a:r>
            <a:r>
              <a:rPr lang="zh-CN" altLang="en-US" sz="1000" i="0" dirty="0">
                <a:solidFill>
                  <a:srgbClr val="0F1115"/>
                </a:solidFill>
                <a:effectLst/>
                <a:latin typeface="quote-cjk-patch"/>
              </a:rPr>
              <a:t>）。前面所有位置的预测结果（如</a:t>
            </a:r>
            <a:r>
              <a:rPr lang="en-US" altLang="zh-CN" sz="1000" i="0" dirty="0" err="1">
                <a:solidFill>
                  <a:srgbClr val="0F1115"/>
                </a:solidFill>
                <a:effectLst/>
                <a:latin typeface="quote-cjk-patch"/>
              </a:rPr>
              <a:t>QuickSort</a:t>
            </a:r>
            <a:r>
              <a:rPr lang="zh-CN" altLang="en-US" sz="1000" i="0" dirty="0">
                <a:solidFill>
                  <a:srgbClr val="0F1115"/>
                </a:solidFill>
                <a:effectLst/>
                <a:latin typeface="quote-cjk-patch"/>
              </a:rPr>
              <a:t>）全部丢弃，不会被取用。</a:t>
            </a:r>
            <a:endParaRPr lang="zh-CN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5" grpId="0" animBg="1"/>
      <p:bldP spid="55" grpId="1" animBg="1"/>
      <p:bldP spid="56" grpId="0" animBg="1"/>
      <p:bldP spid="56" grpId="1" animBg="1"/>
      <p:bldP spid="5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LLM</a:t>
            </a:r>
            <a:r>
              <a:rPr lang="zh-CN" altLang="en-US" dirty="0"/>
              <a:t>解码</a:t>
            </a:r>
            <a:endParaRPr dirty="0"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311700" y="836923"/>
            <a:ext cx="8520600" cy="20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altLang="en-US" dirty="0"/>
              <a:t>该连乘公式即概率论中的链式法则：一个句子（</a:t>
            </a:r>
            <a:r>
              <a:rPr lang="en-US" altLang="zh-CN" dirty="0"/>
              <a:t>token</a:t>
            </a:r>
            <a:r>
              <a:rPr lang="zh-CN" altLang="en-US" dirty="0"/>
              <a:t>序列）出现的联合概率等价于每个</a:t>
            </a:r>
            <a:r>
              <a:rPr lang="en-US" altLang="zh-CN" dirty="0"/>
              <a:t>token</a:t>
            </a:r>
            <a:r>
              <a:rPr lang="zh-CN" altLang="en-US" dirty="0"/>
              <a:t>在给定前面所有</a:t>
            </a:r>
            <a:r>
              <a:rPr lang="en-US" altLang="zh-CN" dirty="0"/>
              <a:t>token</a:t>
            </a:r>
            <a:r>
              <a:rPr lang="zh-CN" altLang="en-US" dirty="0"/>
              <a:t>条件下的条件概率的乘积。</a:t>
            </a:r>
            <a:endParaRPr lang="en-US" altLang="zh-C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altLang="en-US" dirty="0"/>
              <a:t>这反应</a:t>
            </a:r>
            <a:r>
              <a:rPr lang="en-US" altLang="zh-CN" dirty="0"/>
              <a:t>LLM</a:t>
            </a:r>
            <a:r>
              <a:rPr lang="zh-CN" altLang="en-US" dirty="0"/>
              <a:t>的自回归生成过程：每次根据已生成的前缀，从条件概率分布中取出</a:t>
            </a:r>
            <a:r>
              <a:rPr lang="zh-CN" altLang="en-US" dirty="0">
                <a:highlight>
                  <a:srgbClr val="FFFF00"/>
                </a:highlight>
              </a:rPr>
              <a:t>最可能</a:t>
            </a:r>
            <a:r>
              <a:rPr lang="zh-CN" altLang="en-US" dirty="0"/>
              <a:t>（</a:t>
            </a:r>
            <a:r>
              <a:rPr lang="zh-CN" altLang="en-US" dirty="0">
                <a:highlight>
                  <a:srgbClr val="FFFF00"/>
                </a:highlight>
              </a:rPr>
              <a:t>或按某种策略</a:t>
            </a:r>
            <a:r>
              <a:rPr lang="zh-CN" altLang="en-US" dirty="0"/>
              <a:t>）的下一个</a:t>
            </a:r>
            <a:r>
              <a:rPr lang="en-US" altLang="zh-CN" dirty="0"/>
              <a:t>token</a:t>
            </a:r>
            <a:r>
              <a:rPr lang="zh-CN" altLang="en-US" dirty="0"/>
              <a:t>，然后把它拼到末尾，重复这个过程直到遇到结束符或达到最大长度。</a:t>
            </a:r>
            <a:endParaRPr dirty="0"/>
          </a:p>
        </p:txBody>
      </p:sp>
      <p:sp>
        <p:nvSpPr>
          <p:cNvPr id="186" name="Google Shape;186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89" name="Google Shape;189;p27" title="autoregressive_formu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525" y="2635597"/>
            <a:ext cx="37528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 title="example_autoregressi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979587"/>
            <a:ext cx="9142500" cy="342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7"/>
          <p:cNvCxnSpPr/>
          <p:nvPr/>
        </p:nvCxnSpPr>
        <p:spPr>
          <a:xfrm>
            <a:off x="4501500" y="3340522"/>
            <a:ext cx="8100" cy="567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对话气泡: 椭圆形 1">
            <a:extLst>
              <a:ext uri="{FF2B5EF4-FFF2-40B4-BE49-F238E27FC236}">
                <a16:creationId xmlns:a16="http://schemas.microsoft.com/office/drawing/2014/main" id="{E9715328-BA68-4D8D-D6E4-300F0E7DBBEC}"/>
              </a:ext>
            </a:extLst>
          </p:cNvPr>
          <p:cNvSpPr/>
          <p:nvPr/>
        </p:nvSpPr>
        <p:spPr>
          <a:xfrm>
            <a:off x="171643" y="3566530"/>
            <a:ext cx="1336286" cy="41749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举个例子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1ED03D96-DB8B-4B0B-2C11-5FBD53FC8EEA}"/>
              </a:ext>
            </a:extLst>
          </p:cNvPr>
          <p:cNvSpPr/>
          <p:nvPr/>
        </p:nvSpPr>
        <p:spPr>
          <a:xfrm>
            <a:off x="494898" y="2568947"/>
            <a:ext cx="1407683" cy="784976"/>
          </a:xfrm>
          <a:prstGeom prst="cloudCallout">
            <a:avLst>
              <a:gd name="adj1" fmla="val 55820"/>
              <a:gd name="adj2" fmla="val -952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有哪些策略呢？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AA0A3FF-CF03-2DA2-CFF1-B876B6FF8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453" y="1106836"/>
            <a:ext cx="2762636" cy="409632"/>
          </a:xfrm>
          <a:prstGeom prst="rect">
            <a:avLst/>
          </a:prstGeom>
        </p:spPr>
      </p:pic>
      <p:sp>
        <p:nvSpPr>
          <p:cNvPr id="6" name="Google Shape;184;p27">
            <a:extLst>
              <a:ext uri="{FF2B5EF4-FFF2-40B4-BE49-F238E27FC236}">
                <a16:creationId xmlns:a16="http://schemas.microsoft.com/office/drawing/2014/main" id="{0F47AC72-916D-24CC-74B9-97D9FA36C6D3}"/>
              </a:ext>
            </a:extLst>
          </p:cNvPr>
          <p:cNvSpPr txBox="1">
            <a:spLocks/>
          </p:cNvSpPr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dirty="0"/>
              <a:t>解码策略</a:t>
            </a:r>
          </a:p>
        </p:txBody>
      </p:sp>
      <p:sp>
        <p:nvSpPr>
          <p:cNvPr id="9" name="Google Shape;185;p27">
            <a:extLst>
              <a:ext uri="{FF2B5EF4-FFF2-40B4-BE49-F238E27FC236}">
                <a16:creationId xmlns:a16="http://schemas.microsoft.com/office/drawing/2014/main" id="{7C97A1E2-2F0D-F009-F213-21522916A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36923"/>
            <a:ext cx="8520600" cy="3490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zh-CN" altLang="en-US" dirty="0"/>
              <a:t>贪心搜索（</a:t>
            </a:r>
            <a:r>
              <a:rPr lang="en-US" dirty="0"/>
              <a:t>Greedy Search）</a:t>
            </a:r>
          </a:p>
          <a:p>
            <a:pPr lvl="1" indent="-342900">
              <a:buSzPts val="1800"/>
            </a:pPr>
            <a:r>
              <a:rPr lang="zh-CN" altLang="en-US" dirty="0"/>
              <a:t>贪心搜索在每一步都选择当前条件概率最大的 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 indent="-342900">
              <a:buSzPts val="1800"/>
            </a:pPr>
            <a:r>
              <a:rPr lang="zh-CN" altLang="en-US" dirty="0"/>
              <a:t>但是，整个序列的联合概率是</a:t>
            </a:r>
            <a:r>
              <a:rPr lang="zh-CN" altLang="en-US" b="1" dirty="0"/>
              <a:t>各步条件概率的乘积</a:t>
            </a:r>
            <a:r>
              <a:rPr lang="zh-CN" altLang="en-US" dirty="0"/>
              <a:t>。贪心算法只做</a:t>
            </a:r>
            <a:r>
              <a:rPr lang="zh-CN" altLang="en-US" b="1" dirty="0"/>
              <a:t>局部最优</a:t>
            </a:r>
            <a:r>
              <a:rPr lang="zh-CN" altLang="en-US" dirty="0"/>
              <a:t>，可能错过“某一步选择概率稍低的 </a:t>
            </a:r>
            <a:r>
              <a:rPr lang="en-US" altLang="zh-CN" dirty="0"/>
              <a:t>token</a:t>
            </a:r>
            <a:r>
              <a:rPr lang="zh-CN" altLang="en-US" dirty="0"/>
              <a:t>，但后续能获得更高乘积”的全局最优序列。</a:t>
            </a:r>
            <a:endParaRPr lang="en-US" altLang="zh-CN" dirty="0"/>
          </a:p>
          <a:p>
            <a:pPr lvl="1" indent="-342900">
              <a:buSzPts val="1800"/>
            </a:pPr>
            <a:r>
              <a:rPr lang="zh-CN" altLang="en-US" dirty="0"/>
              <a:t>优点：</a:t>
            </a:r>
            <a:r>
              <a:rPr lang="en-US" altLang="zh-CN" dirty="0"/>
              <a:t>1</a:t>
            </a:r>
            <a:r>
              <a:rPr lang="zh-CN" altLang="en-US" dirty="0"/>
              <a:t>）确定性同一输入总是输出相同结果，便于调试、可复现。</a:t>
            </a:r>
            <a:r>
              <a:rPr lang="en-US" altLang="zh-CN" dirty="0"/>
              <a:t>2</a:t>
            </a:r>
            <a:r>
              <a:rPr lang="zh-CN" altLang="en-US" dirty="0"/>
              <a:t>）计算效率高：无需维护多个候选序列（</a:t>
            </a:r>
            <a:r>
              <a:rPr lang="en-US" altLang="zh-CN" dirty="0"/>
              <a:t>beam</a:t>
            </a:r>
            <a:r>
              <a:rPr lang="zh-CN" altLang="en-US" dirty="0"/>
              <a:t>）或进行概率重归一化</a:t>
            </a:r>
            <a:r>
              <a:rPr lang="en-US" altLang="zh-CN" dirty="0"/>
              <a:t>/</a:t>
            </a:r>
            <a:r>
              <a:rPr lang="zh-CN" altLang="en-US" dirty="0"/>
              <a:t>采样，每步只取最大概率 </a:t>
            </a:r>
            <a:r>
              <a:rPr lang="en-US" altLang="zh-CN" dirty="0"/>
              <a:t>token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indent="-342900">
              <a:buSzPts val="1800"/>
            </a:pPr>
            <a:r>
              <a:rPr lang="zh-CN" altLang="en-US" dirty="0"/>
              <a:t>缺点：</a:t>
            </a:r>
            <a:r>
              <a:rPr lang="en-US" altLang="zh-CN" dirty="0"/>
              <a:t>1</a:t>
            </a:r>
            <a:r>
              <a:rPr lang="zh-CN" altLang="en-US" dirty="0"/>
              <a:t>）缺少多样性：对于开放式生成（故事、对话），结果往往单调、无趣、容易陷入常见安全回答。</a:t>
            </a:r>
            <a:r>
              <a:rPr lang="en-US" altLang="zh-CN" dirty="0"/>
              <a:t>2</a:t>
            </a:r>
            <a:r>
              <a:rPr lang="zh-CN" altLang="en-US" dirty="0"/>
              <a:t>）重复循环问题：一旦出现某 </a:t>
            </a:r>
            <a:r>
              <a:rPr lang="en-US" altLang="zh-CN" dirty="0"/>
              <a:t>token </a:t>
            </a:r>
            <a:r>
              <a:rPr lang="zh-CN" altLang="en-US" dirty="0"/>
              <a:t>组合概率较高，贪心可能反复选择相同模式，导致死循环或无限重复短语。</a:t>
            </a:r>
            <a:endParaRPr lang="en-US" altLang="zh-CN" dirty="0"/>
          </a:p>
          <a:p>
            <a:pPr marL="571500" lvl="1" indent="0">
              <a:buSzPts val="1800"/>
              <a:buNone/>
            </a:pPr>
            <a:endParaRPr lang="zh-CN" altLang="en-US" dirty="0"/>
          </a:p>
        </p:txBody>
      </p:sp>
      <p:sp>
        <p:nvSpPr>
          <p:cNvPr id="2" name="Google Shape;186;p27">
            <a:extLst>
              <a:ext uri="{FF2B5EF4-FFF2-40B4-BE49-F238E27FC236}">
                <a16:creationId xmlns:a16="http://schemas.microsoft.com/office/drawing/2014/main" id="{852103FC-2CC4-C993-3D61-73FB3095D12E}"/>
              </a:ext>
            </a:extLst>
          </p:cNvPr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68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4666C951-6FFA-013D-2E36-2D7110504DB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961975"/>
                <a:ext cx="8520600" cy="3746096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 startAt="2"/>
                </a:pPr>
                <a:r>
                  <a:rPr lang="zh-CN" altLang="en-US" dirty="0"/>
                  <a:t>核采样（</a:t>
                </a:r>
                <a:r>
                  <a:rPr lang="en-US" altLang="zh-CN" dirty="0"/>
                  <a:t>Nucleus Sampling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从当前条件分布中，按概率从高到低累加，取累积概率刚好超过阈值 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（例如 </a:t>
                </a:r>
                <a:r>
                  <a:rPr lang="en-US" altLang="zh-CN" dirty="0"/>
                  <a:t>0.9</a:t>
                </a:r>
                <a:r>
                  <a:rPr lang="zh-CN" altLang="en-US" dirty="0"/>
                  <a:t>）的最小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集合，然后在这个动态集合内重新归一化，再进行随机采样。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优点：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）高多样性：每次生成结果不同，适合创意写作、对话回复、剧本生成等需要新颖性的场景。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）自动过滤极低概率 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：根据分布形状动态确定集合大小，分布平坦时包含更多 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（增加随机性），分布尖锐时只包含少数高概率 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（与贪心接近）。这避免了生成完全无意义的词。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）减少重复：随机性打破了概率主导的循环，明显降低重复短语的概率。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）更接近人类写作分布：人类不会总用最高频词，核采样模拟了这种“有时选次优但合理”的习惯。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缺点：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）随机性不可控：相同输入可能产生质量差异很大的输出（有时惊艳，有时平庸）。需要多次采样并挑选。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温度（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）：给定模型输出的原始 </a:t>
                </a:r>
                <a:r>
                  <a:rPr lang="en-US" altLang="zh-CN" dirty="0"/>
                  <a:t>logits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做</a:t>
                </a:r>
                <a:r>
                  <a:rPr lang="en-US" altLang="zh-CN" dirty="0" err="1"/>
                  <a:t>softmax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：原始 </a:t>
                </a:r>
                <a:r>
                  <a:rPr lang="en-US" altLang="zh-CN" dirty="0" err="1"/>
                  <a:t>Softmax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分布。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：分布更平坦，低概率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的相对概率提升，高概率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的优势被削弱。</a:t>
                </a:r>
                <a:endParaRPr lang="en-US" altLang="zh-CN" dirty="0"/>
              </a:p>
              <a:p>
                <a:pPr lvl="2"/>
                <a:r>
                  <a:rPr lang="en-US" altLang="zh-CN" dirty="0">
                    <a:highlight>
                      <a:srgbClr val="FFFF00"/>
                    </a:highlight>
                    <a:ea typeface="Cambria Math" panose="02040503050406030204" pitchFamily="18" charset="0"/>
                  </a:rPr>
                  <a:t>0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：分布更尖锐，高概率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的概率更高，低概率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被进一步压制。</a:t>
                </a:r>
              </a:p>
              <a:p>
                <a:pPr lvl="2"/>
                <a:endParaRPr lang="zh-CN" altLang="en-US" dirty="0"/>
              </a:p>
              <a:p>
                <a:pPr lvl="2"/>
                <a:endParaRPr lang="zh-CN" altLang="en-US" dirty="0"/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4666C951-6FFA-013D-2E36-2D7110504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961975"/>
                <a:ext cx="8520600" cy="37460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845C9ED-E088-81AC-7269-4998FD55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48" y="3423517"/>
            <a:ext cx="1619476" cy="571580"/>
          </a:xfrm>
          <a:prstGeom prst="rect">
            <a:avLst/>
          </a:prstGeom>
        </p:spPr>
      </p:pic>
      <p:sp>
        <p:nvSpPr>
          <p:cNvPr id="6" name="对话气泡: 椭圆形 5">
            <a:extLst>
              <a:ext uri="{FF2B5EF4-FFF2-40B4-BE49-F238E27FC236}">
                <a16:creationId xmlns:a16="http://schemas.microsoft.com/office/drawing/2014/main" id="{37132CC9-88CD-5C27-E542-6CAFC819D283}"/>
              </a:ext>
            </a:extLst>
          </p:cNvPr>
          <p:cNvSpPr/>
          <p:nvPr/>
        </p:nvSpPr>
        <p:spPr>
          <a:xfrm>
            <a:off x="65314" y="3935186"/>
            <a:ext cx="1322614" cy="457200"/>
          </a:xfrm>
          <a:prstGeom prst="wedgeEllipseCallout">
            <a:avLst>
              <a:gd name="adj1" fmla="val 78278"/>
              <a:gd name="adj2" fmla="val 517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默认：贪心搜索</a:t>
            </a:r>
          </a:p>
        </p:txBody>
      </p:sp>
      <p:sp>
        <p:nvSpPr>
          <p:cNvPr id="7" name="Google Shape;184;p27">
            <a:extLst>
              <a:ext uri="{FF2B5EF4-FFF2-40B4-BE49-F238E27FC236}">
                <a16:creationId xmlns:a16="http://schemas.microsoft.com/office/drawing/2014/main" id="{EFEF6E01-13F6-790F-8905-FDCAE8A2A688}"/>
              </a:ext>
            </a:extLst>
          </p:cNvPr>
          <p:cNvSpPr txBox="1">
            <a:spLocks/>
          </p:cNvSpPr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dirty="0"/>
              <a:t>解码策略</a:t>
            </a:r>
          </a:p>
        </p:txBody>
      </p:sp>
      <p:sp>
        <p:nvSpPr>
          <p:cNvPr id="2" name="Google Shape;186;p27">
            <a:extLst>
              <a:ext uri="{FF2B5EF4-FFF2-40B4-BE49-F238E27FC236}">
                <a16:creationId xmlns:a16="http://schemas.microsoft.com/office/drawing/2014/main" id="{C50870A3-43D7-C505-10C3-DDF9752B67B9}"/>
              </a:ext>
            </a:extLst>
          </p:cNvPr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B2420B-78FE-D475-05CB-71EC036B5ACF}"/>
              </a:ext>
            </a:extLst>
          </p:cNvPr>
          <p:cNvSpPr txBox="1"/>
          <p:nvPr/>
        </p:nvSpPr>
        <p:spPr>
          <a:xfrm>
            <a:off x="0" y="480135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Holtzman A, Buys J, Du L, et al. The Curious Case of Neural Text Degeneration[C]//International Conference on Learning Representations.2020.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34910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993EEB-F84C-DFA7-4999-EDFEAFE9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65325"/>
            <a:ext cx="8520600" cy="3875404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BPE</a:t>
            </a:r>
            <a:r>
              <a:rPr lang="zh-CN" altLang="en-US" dirty="0"/>
              <a:t>（</a:t>
            </a:r>
            <a:r>
              <a:rPr lang="en-US" altLang="zh-CN" dirty="0"/>
              <a:t>Byte Pair Encoding</a:t>
            </a:r>
            <a:r>
              <a:rPr lang="zh-CN" altLang="en-US" dirty="0"/>
              <a:t>）是一种常用的子词分词方法，用于将文本切分为模型可处理的 </a:t>
            </a:r>
            <a:r>
              <a:rPr lang="en-US" altLang="zh-CN" dirty="0"/>
              <a:t>token</a:t>
            </a:r>
            <a:r>
              <a:rPr lang="zh-CN" altLang="en-US" dirty="0"/>
              <a:t>。它的核心思想是：从字符级别开始，反复合并出现频率最高的相邻符号对，直到达到预设的词表大小。</a:t>
            </a:r>
            <a:endParaRPr lang="en-US" altLang="zh-CN" dirty="0"/>
          </a:p>
          <a:p>
            <a:r>
              <a:rPr lang="zh-CN" altLang="en-US" dirty="0"/>
              <a:t>主要步骤：</a:t>
            </a:r>
            <a:endParaRPr lang="en-US" altLang="zh-CN" dirty="0"/>
          </a:p>
          <a:p>
            <a:pPr lvl="1"/>
            <a:r>
              <a:rPr lang="zh-CN" altLang="en-US" dirty="0"/>
              <a:t>初始化：将训练语料中的所有单词拆分为字符序列（并在末尾添加特殊符号如 </a:t>
            </a:r>
            <a:r>
              <a:rPr lang="en-US" altLang="zh-CN" dirty="0"/>
              <a:t>&lt;/w&gt; </a:t>
            </a:r>
            <a:r>
              <a:rPr lang="zh-CN" altLang="en-US" dirty="0"/>
              <a:t>标记词边界，从而禁止跨词合并）。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统计频率：统计每对相邻符号的出现次数。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合并：将频率最高的一对符号合并为一个新的子词符号。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重复：重复步骤 </a:t>
            </a:r>
            <a:r>
              <a:rPr lang="en-US" altLang="zh-CN" dirty="0"/>
              <a:t>2-3</a:t>
            </a:r>
            <a:r>
              <a:rPr lang="zh-CN" altLang="en-US" dirty="0"/>
              <a:t>，直到词表大小满足要求。合并操作只会增加新子词，永远不会删除原有的符号。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分词：对任意新文本，按照学到的合并规则进行最长匹配分词。</a:t>
            </a:r>
            <a:endParaRPr lang="en-US" altLang="zh-CN" dirty="0"/>
          </a:p>
          <a:p>
            <a:r>
              <a:rPr lang="zh-CN" altLang="en-US" b="1" dirty="0"/>
              <a:t>优点：</a:t>
            </a:r>
          </a:p>
          <a:p>
            <a:pPr lvl="1"/>
            <a:r>
              <a:rPr lang="zh-CN" altLang="en-US" dirty="0"/>
              <a:t>平衡粒度：既能处理常见词（保留为整词），又能通过子词处理未登录词（如 </a:t>
            </a:r>
            <a:r>
              <a:rPr lang="en-US" altLang="zh-CN" dirty="0"/>
              <a:t>unhappy </a:t>
            </a:r>
            <a:r>
              <a:rPr lang="zh-CN" altLang="en-US" dirty="0"/>
              <a:t>可拆为 </a:t>
            </a:r>
            <a:r>
              <a:rPr lang="en-US" altLang="zh-CN" dirty="0"/>
              <a:t>un + happy</a:t>
            </a:r>
            <a:r>
              <a:rPr lang="zh-CN" altLang="en-US" dirty="0"/>
              <a:t>）。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减少词表大小：无需像单词级分词那样存储几十万词条。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跨语言友好：适用于形态丰富的语言或拼写错误场景。</a:t>
            </a:r>
            <a:endParaRPr lang="en-US" altLang="zh-CN" dirty="0"/>
          </a:p>
        </p:txBody>
      </p:sp>
      <p:sp>
        <p:nvSpPr>
          <p:cNvPr id="4" name="Google Shape;197;p28">
            <a:extLst>
              <a:ext uri="{FF2B5EF4-FFF2-40B4-BE49-F238E27FC236}">
                <a16:creationId xmlns:a16="http://schemas.microsoft.com/office/drawing/2014/main" id="{EFF0EFED-195D-6FF0-29D1-A98484B7A6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分词策略</a:t>
            </a:r>
            <a:endParaRPr dirty="0"/>
          </a:p>
        </p:txBody>
      </p:sp>
      <p:sp>
        <p:nvSpPr>
          <p:cNvPr id="2" name="Google Shape;186;p27">
            <a:extLst>
              <a:ext uri="{FF2B5EF4-FFF2-40B4-BE49-F238E27FC236}">
                <a16:creationId xmlns:a16="http://schemas.microsoft.com/office/drawing/2014/main" id="{1CBF0DD3-687D-D9A5-2436-A5E019FA659A}"/>
              </a:ext>
            </a:extLst>
          </p:cNvPr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102509-6438-72FC-435E-45A01B149ABC}"/>
              </a:ext>
            </a:extLst>
          </p:cNvPr>
          <p:cNvSpPr txBox="1"/>
          <p:nvPr/>
        </p:nvSpPr>
        <p:spPr>
          <a:xfrm>
            <a:off x="-800" y="4747275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Sennrich</a:t>
            </a:r>
            <a:r>
              <a:rPr lang="en-US" altLang="zh-CN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R, Haddow B, Birch A. Neural machine translation of rare words with </a:t>
            </a:r>
            <a:r>
              <a:rPr lang="en-US" altLang="zh-CN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subword</a:t>
            </a:r>
            <a:r>
              <a:rPr lang="en-US" altLang="zh-CN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units[C]//Proceedings of the 54th annual meeting of the association for computational linguistics (volume 1: long papers). 2016: 1715-1725.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877144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6C1CFF1-B304-53EC-6A8B-5B68B88A0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61" y="274573"/>
            <a:ext cx="1673327" cy="7942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A7C75F-7ECC-B333-631C-8BB30555E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61" y="1113744"/>
            <a:ext cx="2522682" cy="10554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EEA75FD-8D2B-2226-A99E-54E1DCDB4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05" y="2214193"/>
            <a:ext cx="3058653" cy="19332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46C64C-4D17-586C-7FE1-5E8DEEAC8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05" y="4147397"/>
            <a:ext cx="1658992" cy="90490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7D488B2-7180-6D56-6DC0-71399A8D7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488" y="254557"/>
            <a:ext cx="2630413" cy="231719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00C3D42-8434-2343-4CCC-393A6CB046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4489" y="2614099"/>
            <a:ext cx="2291938" cy="74092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4C125E9-51B5-3112-0250-A48141C151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4488" y="3410409"/>
            <a:ext cx="2630413" cy="164189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3AB6D13-12B2-0F1A-CC82-3188E50AC4A5}"/>
              </a:ext>
            </a:extLst>
          </p:cNvPr>
          <p:cNvSpPr txBox="1"/>
          <p:nvPr/>
        </p:nvSpPr>
        <p:spPr>
          <a:xfrm>
            <a:off x="8094096" y="4744525"/>
            <a:ext cx="1658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BPE</a:t>
            </a:r>
            <a:r>
              <a:rPr lang="zh-CN" altLang="en-US" dirty="0"/>
              <a:t>举例</a:t>
            </a:r>
          </a:p>
        </p:txBody>
      </p:sp>
    </p:spTree>
    <p:extLst>
      <p:ext uri="{BB962C8B-B14F-4D97-AF65-F5344CB8AC3E}">
        <p14:creationId xmlns:p14="http://schemas.microsoft.com/office/powerpoint/2010/main" val="311504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Process</a:t>
            </a:r>
            <a:endParaRPr dirty="0"/>
          </a:p>
        </p:txBody>
      </p:sp>
      <p:sp>
        <p:nvSpPr>
          <p:cNvPr id="245" name="Google Shape;245;p29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7183">
              <a:buSzPct val="100000"/>
            </a:pPr>
            <a:r>
              <a:rPr lang="en" dirty="0"/>
              <a:t>Stage 1</a:t>
            </a:r>
            <a:r>
              <a:rPr lang="zh-CN" altLang="en-US" dirty="0"/>
              <a:t>：自监督预训练（</a:t>
            </a:r>
            <a:r>
              <a:rPr lang="en-US" altLang="zh-CN" dirty="0"/>
              <a:t>Self-supervised pretraining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indent="-317183">
              <a:buSzPct val="100000"/>
              <a:buChar char="●"/>
            </a:pPr>
            <a:r>
              <a:rPr lang="zh-CN" altLang="en-US" dirty="0"/>
              <a:t>自监督预训练是整个训练流程中最核心、最耗时的环节。其目标是在海量、多样化的无标注文本数据上，让模型学会语言的统计规律、语法、语义以及一定的世界知识。</a:t>
            </a:r>
            <a:endParaRPr dirty="0"/>
          </a:p>
          <a:p>
            <a:pPr lvl="1" indent="-297498">
              <a:buSzPct val="100000"/>
            </a:pPr>
            <a:r>
              <a:rPr lang="zh-CN" altLang="en-US" dirty="0"/>
              <a:t>典型的预训练任务：</a:t>
            </a:r>
            <a:r>
              <a:rPr lang="en-US" altLang="zh-CN" dirty="0"/>
              <a:t>Casual Language Modeling (CLM)</a:t>
            </a:r>
            <a:r>
              <a:rPr lang="zh-CN" altLang="en-US" dirty="0"/>
              <a:t>、</a:t>
            </a:r>
            <a:r>
              <a:rPr lang="en-US" altLang="zh-CN" dirty="0"/>
              <a:t>Fill-in-Middle (FIM)</a:t>
            </a:r>
            <a:endParaRPr lang="en" dirty="0"/>
          </a:p>
          <a:p>
            <a:pPr marL="914400" lvl="1" indent="-297498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CN" altLang="en-US" dirty="0"/>
              <a:t>典型的预训练语料：</a:t>
            </a:r>
            <a:r>
              <a:rPr lang="en" dirty="0"/>
              <a:t>Common Crawl, Wikipedia, StackExchange, Public Github repos</a:t>
            </a:r>
          </a:p>
          <a:p>
            <a:pPr lvl="1" indent="-297498">
              <a:buSzPct val="100000"/>
            </a:pPr>
            <a:r>
              <a:rPr lang="en-US" dirty="0"/>
              <a:t>GPT-3 (OpenAI</a:t>
            </a:r>
            <a:r>
              <a:rPr lang="zh-CN" altLang="en-US" dirty="0"/>
              <a:t>，</a:t>
            </a:r>
            <a:r>
              <a:rPr lang="en-US" altLang="zh-CN" dirty="0"/>
              <a:t>2020</a:t>
            </a:r>
            <a:r>
              <a:rPr lang="en-US" dirty="0"/>
              <a:t>)</a:t>
            </a:r>
            <a:r>
              <a:rPr lang="zh-CN" altLang="en-US" dirty="0"/>
              <a:t>，在超过</a:t>
            </a:r>
            <a:r>
              <a:rPr lang="en-US" altLang="zh-CN" dirty="0"/>
              <a:t>3000</a:t>
            </a:r>
            <a:r>
              <a:rPr lang="zh-CN" altLang="en-US" dirty="0"/>
              <a:t>亿</a:t>
            </a:r>
            <a:r>
              <a:rPr lang="en-US" altLang="zh-CN" dirty="0"/>
              <a:t>token</a:t>
            </a:r>
            <a:r>
              <a:rPr lang="zh-CN" altLang="en-US" dirty="0"/>
              <a:t>上预训练，训练预料涵盖</a:t>
            </a:r>
            <a:r>
              <a:rPr lang="en-US" altLang="zh-CN" dirty="0"/>
              <a:t>Common Crawl, WebText2</a:t>
            </a:r>
            <a:r>
              <a:rPr lang="zh-CN" altLang="en-US" dirty="0"/>
              <a:t>以及</a:t>
            </a:r>
            <a:r>
              <a:rPr lang="en-US" altLang="zh-CN" dirty="0"/>
              <a:t>Wikipedia</a:t>
            </a:r>
            <a:r>
              <a:rPr lang="zh-CN" altLang="en-US" dirty="0"/>
              <a:t>等数据集；</a:t>
            </a:r>
            <a:r>
              <a:rPr lang="en-US" altLang="zh-CN" dirty="0" err="1"/>
              <a:t>LLaMA</a:t>
            </a:r>
            <a:r>
              <a:rPr lang="en-US" altLang="zh-CN" dirty="0"/>
              <a:t> (Meat AI, 2023)</a:t>
            </a:r>
            <a:r>
              <a:rPr lang="zh-CN" altLang="en-US" dirty="0"/>
              <a:t>，在</a:t>
            </a:r>
            <a:r>
              <a:rPr lang="en-US" altLang="zh-CN" dirty="0"/>
              <a:t>1400</a:t>
            </a:r>
            <a:r>
              <a:rPr lang="zh-CN" altLang="en-US" dirty="0"/>
              <a:t>亿</a:t>
            </a:r>
            <a:r>
              <a:rPr lang="en-US" altLang="zh-CN" dirty="0"/>
              <a:t>token</a:t>
            </a:r>
            <a:r>
              <a:rPr lang="zh-CN" altLang="en-US" dirty="0"/>
              <a:t>上预训练，训练语料涵盖</a:t>
            </a:r>
            <a:r>
              <a:rPr lang="en-US" altLang="zh-CN" dirty="0"/>
              <a:t>Common Crawl, GitHub, Wikipedia, </a:t>
            </a:r>
            <a:r>
              <a:rPr lang="en-US" altLang="zh-CN" dirty="0" err="1"/>
              <a:t>ArXiv</a:t>
            </a:r>
            <a:r>
              <a:rPr lang="en-US" altLang="zh-CN" dirty="0"/>
              <a:t>, </a:t>
            </a:r>
            <a:r>
              <a:rPr lang="en-US" altLang="zh-CN" dirty="0" err="1"/>
              <a:t>StackExchange</a:t>
            </a:r>
            <a:r>
              <a:rPr lang="zh-CN" altLang="en-US" dirty="0"/>
              <a:t>等数据集；</a:t>
            </a:r>
            <a:r>
              <a:rPr lang="en-US" altLang="zh-CN" dirty="0"/>
              <a:t>DeepSeek-V3(</a:t>
            </a:r>
            <a:r>
              <a:rPr lang="zh-CN" altLang="en-US" dirty="0"/>
              <a:t>幻方量化，</a:t>
            </a:r>
            <a:r>
              <a:rPr lang="en-US" altLang="zh-CN" dirty="0"/>
              <a:t>2025)</a:t>
            </a:r>
            <a:r>
              <a:rPr lang="zh-CN" altLang="en-US" dirty="0"/>
              <a:t>的预训练数据总量为</a:t>
            </a:r>
            <a:r>
              <a:rPr lang="en-US" altLang="zh-CN" dirty="0"/>
              <a:t>14.8</a:t>
            </a:r>
            <a:r>
              <a:rPr lang="zh-CN" altLang="en-US" dirty="0"/>
              <a:t>万亿个</a:t>
            </a:r>
            <a:r>
              <a:rPr lang="en-US" altLang="zh-CN" dirty="0"/>
              <a:t>token</a:t>
            </a:r>
            <a:r>
              <a:rPr lang="zh-CN" altLang="en-US" dirty="0"/>
              <a:t>上预训练，训练语料涵盖</a:t>
            </a:r>
            <a:r>
              <a:rPr lang="en-US" altLang="zh-CN" dirty="0"/>
              <a:t>Common Crawl, </a:t>
            </a:r>
            <a:r>
              <a:rPr lang="en-US" altLang="zh-CN" dirty="0" err="1"/>
              <a:t>ArXiv</a:t>
            </a:r>
            <a:r>
              <a:rPr lang="en-US" altLang="zh-CN" dirty="0"/>
              <a:t>, GitHub</a:t>
            </a:r>
            <a:r>
              <a:rPr lang="zh-CN" altLang="en-US" dirty="0"/>
              <a:t>等中英文数据集。</a:t>
            </a:r>
            <a:endParaRPr dirty="0"/>
          </a:p>
        </p:txBody>
      </p:sp>
      <p:sp>
        <p:nvSpPr>
          <p:cNvPr id="246" name="Google Shape;246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C6843F-A5E5-CA46-914E-4757408D3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68353"/>
            <a:ext cx="8520600" cy="4152256"/>
          </a:xfrm>
        </p:spPr>
        <p:txBody>
          <a:bodyPr>
            <a:normAutofit/>
          </a:bodyPr>
          <a:lstStyle/>
          <a:p>
            <a:r>
              <a:rPr lang="en-US" altLang="zh-CN" dirty="0"/>
              <a:t>Casual Language Modeling (CLM)</a:t>
            </a:r>
          </a:p>
          <a:p>
            <a:pPr lvl="1"/>
            <a:r>
              <a:rPr lang="zh-CN" altLang="en-US" dirty="0"/>
              <a:t>使用过的</a:t>
            </a:r>
            <a:r>
              <a:rPr lang="en-US" altLang="zh-CN" dirty="0"/>
              <a:t>LLM</a:t>
            </a:r>
            <a:r>
              <a:rPr lang="zh-CN" altLang="en-US" dirty="0"/>
              <a:t>：</a:t>
            </a:r>
            <a:r>
              <a:rPr lang="en-US" altLang="zh-CN" dirty="0"/>
              <a:t>GPT from OpenAI</a:t>
            </a:r>
            <a:r>
              <a:rPr lang="zh-CN" altLang="en-US" dirty="0"/>
              <a:t>、</a:t>
            </a:r>
            <a:r>
              <a:rPr lang="en-US" altLang="zh-CN" dirty="0" err="1"/>
              <a:t>LLaMA</a:t>
            </a:r>
            <a:r>
              <a:rPr lang="en-US" altLang="zh-CN" dirty="0"/>
              <a:t> from Meta AI</a:t>
            </a:r>
            <a:r>
              <a:rPr lang="zh-CN" altLang="en-US" dirty="0"/>
              <a:t>、</a:t>
            </a:r>
            <a:r>
              <a:rPr lang="en-US" altLang="zh-CN" dirty="0" err="1"/>
              <a:t>StarCoder</a:t>
            </a:r>
            <a:r>
              <a:rPr lang="en-US" altLang="zh-CN" dirty="0"/>
              <a:t> from </a:t>
            </a:r>
            <a:r>
              <a:rPr lang="en-US" altLang="zh-CN" dirty="0" err="1"/>
              <a:t>BigCode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CLM </a:t>
            </a:r>
            <a:r>
              <a:rPr lang="zh-CN" altLang="en-US" dirty="0"/>
              <a:t>的任务目标是：给定一个文本序列的前面部分，预测下一个词（</a:t>
            </a:r>
            <a:r>
              <a:rPr lang="en-US" altLang="zh-CN" dirty="0"/>
              <a:t>token</a:t>
            </a:r>
            <a:r>
              <a:rPr lang="zh-CN" altLang="en-US" dirty="0"/>
              <a:t>）。模型在训练时只能利用当前位置左侧（即过去）的上下文信息，不能看到右侧（未来）的信息，因此是单向的、因果性的。</a:t>
            </a:r>
          </a:p>
          <a:p>
            <a:endParaRPr lang="en-US" altLang="zh-CN" dirty="0"/>
          </a:p>
          <a:p>
            <a:r>
              <a:rPr lang="en-US" altLang="zh-CN" dirty="0"/>
              <a:t>Fill-in-Middle (FIM)</a:t>
            </a:r>
          </a:p>
          <a:p>
            <a:pPr lvl="1"/>
            <a:r>
              <a:rPr lang="zh-CN" altLang="en-US" dirty="0"/>
              <a:t>使用过的</a:t>
            </a:r>
            <a:r>
              <a:rPr lang="en-US" altLang="zh-CN" dirty="0"/>
              <a:t>LLM</a:t>
            </a:r>
            <a:r>
              <a:rPr lang="zh-CN" altLang="en-US" dirty="0"/>
              <a:t>：</a:t>
            </a:r>
            <a:r>
              <a:rPr lang="en-US" altLang="zh-CN" dirty="0" err="1"/>
              <a:t>InCoder</a:t>
            </a:r>
            <a:r>
              <a:rPr lang="en-US" altLang="zh-CN" dirty="0"/>
              <a:t> from Meta AI</a:t>
            </a:r>
            <a:r>
              <a:rPr lang="zh-CN" altLang="en-US" dirty="0"/>
              <a:t>、</a:t>
            </a:r>
            <a:r>
              <a:rPr lang="en-US" altLang="zh-CN" dirty="0"/>
              <a:t>DeepSeek from </a:t>
            </a:r>
            <a:r>
              <a:rPr lang="zh-CN" altLang="en-US" dirty="0"/>
              <a:t>幻方量化</a:t>
            </a:r>
            <a:endParaRPr lang="en-US" altLang="zh-CN" dirty="0"/>
          </a:p>
          <a:p>
            <a:pPr lvl="1"/>
            <a:r>
              <a:rPr lang="zh-CN" altLang="en-US" dirty="0"/>
              <a:t>传统的</a:t>
            </a:r>
            <a:r>
              <a:rPr lang="en-US" altLang="zh-CN" dirty="0"/>
              <a:t>CLM</a:t>
            </a:r>
            <a:r>
              <a:rPr lang="zh-CN" altLang="en-US" dirty="0"/>
              <a:t>模型（如</a:t>
            </a:r>
            <a:r>
              <a:rPr lang="en-US" altLang="zh-CN" dirty="0"/>
              <a:t>GPT</a:t>
            </a:r>
            <a:r>
              <a:rPr lang="zh-CN" altLang="en-US" dirty="0"/>
              <a:t>）本质上是“单向”的，它只能根据光标之前的内容，单向地预测接下来的文字。但在很多场景下，尤其是编程时，光标之后的代码（如下文中对某个函数的调用或变量的使用）能提供更精准的指引。</a:t>
            </a:r>
            <a:endParaRPr lang="en-US" altLang="zh-CN" dirty="0"/>
          </a:p>
          <a:p>
            <a:pPr lvl="1"/>
            <a:r>
              <a:rPr lang="en-US" altLang="zh-CN" dirty="0"/>
              <a:t>FIM</a:t>
            </a:r>
            <a:r>
              <a:rPr lang="zh-CN" altLang="en-US" dirty="0"/>
              <a:t>的核心思想是让模型学会根据一段给定的“上文”和“下文”，来预测并生成中间缺失的内容。</a:t>
            </a:r>
            <a:endParaRPr lang="en-US" altLang="zh-CN" dirty="0"/>
          </a:p>
          <a:p>
            <a:pPr lvl="1"/>
            <a:r>
              <a:rPr lang="zh-CN" altLang="en-US" dirty="0"/>
              <a:t>预训练任务格式举例：</a:t>
            </a:r>
            <a:endParaRPr lang="en-US" altLang="zh-CN" dirty="0"/>
          </a:p>
          <a:p>
            <a:pPr lvl="1"/>
            <a:r>
              <a:rPr lang="zh-CN" altLang="en-US" b="1" dirty="0"/>
              <a:t>原始文本</a:t>
            </a:r>
            <a:r>
              <a:rPr lang="en-US" altLang="zh-CN" dirty="0"/>
              <a:t>: The quick brown fox jumps over the lazy dog</a:t>
            </a:r>
          </a:p>
          <a:p>
            <a:pPr lvl="1"/>
            <a:r>
              <a:rPr lang="zh-CN" altLang="en-US" b="1" dirty="0"/>
              <a:t>转换后</a:t>
            </a:r>
            <a:r>
              <a:rPr lang="en-US" altLang="zh-CN" b="1" dirty="0"/>
              <a:t>: </a:t>
            </a:r>
            <a:r>
              <a:rPr lang="en-US" altLang="zh-CN" dirty="0"/>
              <a:t>&lt;PRE&gt; The quick &lt;SUF&gt; over the lazy dog &lt;MID&gt; </a:t>
            </a:r>
            <a:r>
              <a:rPr lang="en-US" altLang="zh-CN" dirty="0">
                <a:highlight>
                  <a:srgbClr val="FFFF00"/>
                </a:highlight>
              </a:rPr>
              <a:t>brown fox jumps </a:t>
            </a:r>
            <a:r>
              <a:rPr lang="en-US" altLang="zh-CN" dirty="0"/>
              <a:t>&lt;EOM&gt;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EE14FF-34A2-38B9-BCFD-5370363A4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05" y="1477883"/>
            <a:ext cx="3485985" cy="494711"/>
          </a:xfrm>
          <a:prstGeom prst="rect">
            <a:avLst/>
          </a:prstGeom>
        </p:spPr>
      </p:pic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6643F89F-BED5-9222-39FB-C4E7A645EE17}"/>
              </a:ext>
            </a:extLst>
          </p:cNvPr>
          <p:cNvSpPr/>
          <p:nvPr/>
        </p:nvSpPr>
        <p:spPr>
          <a:xfrm>
            <a:off x="5795237" y="3518321"/>
            <a:ext cx="1429129" cy="399671"/>
          </a:xfrm>
          <a:prstGeom prst="wedgeRectCallout">
            <a:avLst>
              <a:gd name="adj1" fmla="val -19127"/>
              <a:gd name="adj2" fmla="val 655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需要生成的内容</a:t>
            </a: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E3A37778-3534-8A59-BCC5-03D7B071F064}"/>
              </a:ext>
            </a:extLst>
          </p:cNvPr>
          <p:cNvSpPr/>
          <p:nvPr/>
        </p:nvSpPr>
        <p:spPr>
          <a:xfrm>
            <a:off x="1884310" y="4330784"/>
            <a:ext cx="955781" cy="399671"/>
          </a:xfrm>
          <a:prstGeom prst="wedgeRectCallout">
            <a:avLst>
              <a:gd name="adj1" fmla="val -22517"/>
              <a:gd name="adj2" fmla="val -79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前缀标签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A0550D0B-0815-84C0-6414-0CF4495D0D00}"/>
              </a:ext>
            </a:extLst>
          </p:cNvPr>
          <p:cNvSpPr/>
          <p:nvPr/>
        </p:nvSpPr>
        <p:spPr>
          <a:xfrm>
            <a:off x="3278114" y="4330784"/>
            <a:ext cx="955781" cy="399671"/>
          </a:xfrm>
          <a:prstGeom prst="wedgeRectCallout">
            <a:avLst>
              <a:gd name="adj1" fmla="val -22517"/>
              <a:gd name="adj2" fmla="val -79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后缀标签</a:t>
            </a:r>
          </a:p>
        </p:txBody>
      </p:sp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610B3715-CA03-8A3F-5D2E-A03880FC1CC9}"/>
              </a:ext>
            </a:extLst>
          </p:cNvPr>
          <p:cNvSpPr/>
          <p:nvPr/>
        </p:nvSpPr>
        <p:spPr>
          <a:xfrm>
            <a:off x="5222980" y="4330784"/>
            <a:ext cx="955781" cy="399671"/>
          </a:xfrm>
          <a:prstGeom prst="wedgeRectCallout">
            <a:avLst>
              <a:gd name="adj1" fmla="val -22517"/>
              <a:gd name="adj2" fmla="val -79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填补标签</a:t>
            </a:r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CED0F998-5FA4-C8BB-25A3-2E86052FC60E}"/>
              </a:ext>
            </a:extLst>
          </p:cNvPr>
          <p:cNvSpPr/>
          <p:nvPr/>
        </p:nvSpPr>
        <p:spPr>
          <a:xfrm>
            <a:off x="7167846" y="4330784"/>
            <a:ext cx="955781" cy="399671"/>
          </a:xfrm>
          <a:prstGeom prst="wedgeRectCallout">
            <a:avLst>
              <a:gd name="adj1" fmla="val -22517"/>
              <a:gd name="adj2" fmla="val -79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结束标签</a:t>
            </a:r>
          </a:p>
        </p:txBody>
      </p:sp>
      <p:sp>
        <p:nvSpPr>
          <p:cNvPr id="2" name="Google Shape;186;p27">
            <a:extLst>
              <a:ext uri="{FF2B5EF4-FFF2-40B4-BE49-F238E27FC236}">
                <a16:creationId xmlns:a16="http://schemas.microsoft.com/office/drawing/2014/main" id="{AA53BB8E-A302-28C5-7239-2D2A12B8E92C}"/>
              </a:ext>
            </a:extLst>
          </p:cNvPr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6C146-101C-AD04-5B14-5DCD50FAAACF}"/>
              </a:ext>
            </a:extLst>
          </p:cNvPr>
          <p:cNvSpPr txBox="1"/>
          <p:nvPr/>
        </p:nvSpPr>
        <p:spPr>
          <a:xfrm>
            <a:off x="2650610" y="1477883"/>
            <a:ext cx="617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max</a:t>
            </a:r>
            <a:endParaRPr lang="zh-CN" altLang="en-US" dirty="0"/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91F6BB54-9FBB-1587-7EFD-18F20EA069DD}"/>
              </a:ext>
            </a:extLst>
          </p:cNvPr>
          <p:cNvSpPr/>
          <p:nvPr/>
        </p:nvSpPr>
        <p:spPr>
          <a:xfrm>
            <a:off x="44335" y="4213952"/>
            <a:ext cx="1749563" cy="739980"/>
          </a:xfrm>
          <a:prstGeom prst="wedgeRectCallout">
            <a:avLst>
              <a:gd name="adj1" fmla="val 46327"/>
              <a:gd name="adj2" fmla="val -744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依旧是自回归的一种“变体”（改变了训练数据的组织形式，但生成逻辑未变）</a:t>
            </a:r>
          </a:p>
        </p:txBody>
      </p:sp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D6E43BE8-00F5-F8E0-D750-F592D0503FB9}"/>
              </a:ext>
            </a:extLst>
          </p:cNvPr>
          <p:cNvSpPr/>
          <p:nvPr/>
        </p:nvSpPr>
        <p:spPr>
          <a:xfrm>
            <a:off x="182086" y="2847804"/>
            <a:ext cx="1836717" cy="938150"/>
          </a:xfrm>
          <a:prstGeom prst="cloudCallout">
            <a:avLst>
              <a:gd name="adj1" fmla="val -20402"/>
              <a:gd name="adj2" fmla="val 637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Diffusion LM</a:t>
            </a:r>
            <a:r>
              <a:rPr lang="zh-CN" altLang="en-US" sz="1100" dirty="0"/>
              <a:t>尝试打破这种生成范式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5371D0-6F35-7709-943C-1DDE144AD29D}"/>
              </a:ext>
            </a:extLst>
          </p:cNvPr>
          <p:cNvSpPr txBox="1"/>
          <p:nvPr/>
        </p:nvSpPr>
        <p:spPr>
          <a:xfrm>
            <a:off x="1840675" y="4730455"/>
            <a:ext cx="9142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Radford A, Narasimhan K,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Salimans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T, et al. Improving language understanding by generative pre-training[J]. 2018.</a:t>
            </a:r>
            <a:endParaRPr lang="zh-CN" alt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B64BA8-1192-DED0-12EB-D38732B7E44B}"/>
              </a:ext>
            </a:extLst>
          </p:cNvPr>
          <p:cNvSpPr txBox="1"/>
          <p:nvPr/>
        </p:nvSpPr>
        <p:spPr>
          <a:xfrm>
            <a:off x="837026" y="4898785"/>
            <a:ext cx="87719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Bavarian M, Jun H,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Tezak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N, et al. Efficient training of language models to fill in the middle[J].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arXiv:2207.14255, 2022.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6253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1B5F-1464-916A-CE11-A1A90D1A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0BB3D0-BA6B-4143-CA26-F2B4C783F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62298"/>
            <a:ext cx="8520600" cy="3416400"/>
          </a:xfrm>
        </p:spPr>
        <p:txBody>
          <a:bodyPr>
            <a:normAutofit/>
          </a:bodyPr>
          <a:lstStyle/>
          <a:p>
            <a:pPr lvl="0" indent="-317183">
              <a:buSzPct val="100000"/>
            </a:pPr>
            <a:r>
              <a:rPr lang="en-US" altLang="zh-CN" dirty="0"/>
              <a:t>Stage 2</a:t>
            </a:r>
            <a:r>
              <a:rPr lang="zh-CN" altLang="en-US" dirty="0"/>
              <a:t>：指令微调（</a:t>
            </a:r>
            <a:r>
              <a:rPr lang="en-US" altLang="zh-CN" dirty="0"/>
              <a:t>Instruction Tuning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indent="-297498">
              <a:buSzPct val="100000"/>
            </a:pPr>
            <a:r>
              <a:rPr lang="zh-CN" altLang="en-US" dirty="0"/>
              <a:t>自监督预训练的问题是不懂“对话”：预训练模型仅懂得如何填空或者续写。模型不会主动理解用户的意图。如你给它“中国的首都是</a:t>
            </a:r>
            <a:r>
              <a:rPr lang="en-US" altLang="zh-CN" dirty="0"/>
              <a:t>...”</a:t>
            </a:r>
            <a:r>
              <a:rPr lang="zh-CN" altLang="en-US" dirty="0"/>
              <a:t>，它会接“北京”。但如果你直接问“中国的首都是哪里？”，它可能不知道要直接给出答案，而是会想各种方式续写这句话，比如“北京是中国的首都，它也是</a:t>
            </a:r>
            <a:r>
              <a:rPr lang="en-US" altLang="zh-CN" dirty="0"/>
              <a:t>...”</a:t>
            </a:r>
            <a:r>
              <a:rPr lang="zh-CN" altLang="en-US" dirty="0"/>
              <a:t>这样的分析。这与用户期望的直接、简洁问答不符。</a:t>
            </a:r>
            <a:endParaRPr lang="en-US" altLang="zh-CN" dirty="0"/>
          </a:p>
          <a:p>
            <a:pPr lvl="1" indent="-297498">
              <a:buSzPct val="100000"/>
            </a:pPr>
            <a:r>
              <a:rPr lang="zh-CN" altLang="en-US" dirty="0"/>
              <a:t>指令微调是一种监督学习方法。它的基本思路是：在一个已经通过海量无监督文本完成了预训练的大模型基础上，再使用一大批不同任务的</a:t>
            </a:r>
            <a:r>
              <a:rPr lang="en-US" altLang="zh-CN" dirty="0"/>
              <a:t>&lt;</a:t>
            </a:r>
            <a:r>
              <a:rPr lang="zh-CN" altLang="en-US" dirty="0"/>
              <a:t>指令</a:t>
            </a:r>
            <a:r>
              <a:rPr lang="en-US" altLang="zh-CN" dirty="0"/>
              <a:t>,</a:t>
            </a:r>
            <a:r>
              <a:rPr lang="zh-CN" altLang="en-US" dirty="0"/>
              <a:t>回答</a:t>
            </a:r>
            <a:r>
              <a:rPr lang="en-US" altLang="zh-CN" dirty="0"/>
              <a:t>&gt;</a:t>
            </a:r>
            <a:r>
              <a:rPr lang="zh-CN" altLang="en-US" dirty="0"/>
              <a:t>配对数据，基于最小化生成损失对模型进行进一步的训练。使模型能够理解用户指令，提高在未知任务上零样本推理的性能。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86B2C2-5E48-ED20-C823-A37FFE675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27" y="2475759"/>
            <a:ext cx="5486107" cy="22419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A94D09D-4000-BE8C-D2FC-99CB4EA3677C}"/>
              </a:ext>
            </a:extLst>
          </p:cNvPr>
          <p:cNvSpPr txBox="1"/>
          <p:nvPr/>
        </p:nvSpPr>
        <p:spPr>
          <a:xfrm>
            <a:off x="2507029" y="4693660"/>
            <a:ext cx="968901" cy="314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指令微调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C3084C-F257-407F-7A37-7AE30EDBBEF5}"/>
              </a:ext>
            </a:extLst>
          </p:cNvPr>
          <p:cNvSpPr txBox="1"/>
          <p:nvPr/>
        </p:nvSpPr>
        <p:spPr>
          <a:xfrm>
            <a:off x="5876988" y="2758400"/>
            <a:ext cx="30185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Wei J, Bosma M, Zhao V Y, et al. Finetuned language models are zero-shot learners[J].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arXiv:2109.01652, 2021.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（引用：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5845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dirty="0">
                <a:solidFill>
                  <a:srgbClr val="222222"/>
                </a:solidFill>
                <a:latin typeface="Arial" panose="020B0604020202020204" pitchFamily="34" charset="0"/>
              </a:rPr>
              <a:t>FLAN</a:t>
            </a:r>
            <a:r>
              <a:rPr lang="zh-CN" altLang="en-US" dirty="0">
                <a:solidFill>
                  <a:srgbClr val="222222"/>
                </a:solidFill>
                <a:latin typeface="Arial" panose="020B0604020202020204" pitchFamily="34" charset="0"/>
              </a:rPr>
              <a:t>模型被提出。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642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C0F232-2DC0-E9C7-C9CA-2FFD0D741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368" y="262298"/>
            <a:ext cx="6061281" cy="3416400"/>
          </a:xfrm>
        </p:spPr>
        <p:txBody>
          <a:bodyPr>
            <a:normAutofit/>
          </a:bodyPr>
          <a:lstStyle/>
          <a:p>
            <a:pPr lvl="0" indent="-317183">
              <a:buSzPct val="100000"/>
            </a:pPr>
            <a:r>
              <a:rPr lang="en-US" altLang="zh-CN" dirty="0"/>
              <a:t>Stage 3</a:t>
            </a:r>
            <a:r>
              <a:rPr lang="zh-CN" altLang="en-US" dirty="0"/>
              <a:t>：偏好调优（</a:t>
            </a:r>
            <a:r>
              <a:rPr lang="en-US" altLang="zh-CN" dirty="0"/>
              <a:t>Preferencing Tuning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indent="-297498">
              <a:buSzPct val="100000"/>
            </a:pPr>
            <a:r>
              <a:rPr lang="zh-CN" altLang="en-US" dirty="0"/>
              <a:t>指令微调只能模仿数据中的“标准答案”，但无法学习“偏好排序”。偏好调优让模型学会权衡不同回答之间的优劣，从而产生更细腻、更符合人类直觉的输出，规避低质量的输出。</a:t>
            </a:r>
            <a:endParaRPr lang="en-US" altLang="zh-CN" dirty="0"/>
          </a:p>
          <a:p>
            <a:pPr lvl="1" indent="-297498">
              <a:buSzPct val="100000"/>
            </a:pPr>
            <a:r>
              <a:rPr lang="zh-CN" altLang="en-US" dirty="0"/>
              <a:t>通过训练一个奖励模型，自主引导</a:t>
            </a:r>
            <a:r>
              <a:rPr lang="en-US" altLang="zh-CN" dirty="0"/>
              <a:t>LLM</a:t>
            </a:r>
            <a:r>
              <a:rPr lang="zh-CN" altLang="en-US" dirty="0"/>
              <a:t>对齐人类偏好。</a:t>
            </a:r>
            <a:endParaRPr lang="en-US" altLang="zh-CN" dirty="0"/>
          </a:p>
          <a:p>
            <a:pPr lvl="1" indent="-297498">
              <a:buSzPct val="100000"/>
            </a:pPr>
            <a:r>
              <a:rPr lang="zh-CN" altLang="en-US" dirty="0"/>
              <a:t>基于奖励模型对</a:t>
            </a:r>
            <a:r>
              <a:rPr lang="en-US" altLang="zh-CN" dirty="0"/>
              <a:t>LLM</a:t>
            </a:r>
            <a:r>
              <a:rPr lang="zh-CN" altLang="en-US" dirty="0"/>
              <a:t>的输出进行打分，基于近端策略优化（</a:t>
            </a:r>
            <a:r>
              <a:rPr lang="en-US" altLang="zh-CN" dirty="0"/>
              <a:t>Proximal Policy Optimization</a:t>
            </a:r>
            <a:r>
              <a:rPr lang="zh-CN" altLang="en-US" dirty="0"/>
              <a:t>，</a:t>
            </a:r>
            <a:r>
              <a:rPr lang="en-US" altLang="zh-CN" dirty="0"/>
              <a:t>PPO</a:t>
            </a:r>
            <a:r>
              <a:rPr lang="zh-CN" altLang="en-US" dirty="0"/>
              <a:t>）算法引导</a:t>
            </a:r>
            <a:r>
              <a:rPr lang="en-US" altLang="zh-CN" dirty="0"/>
              <a:t>LLM</a:t>
            </a:r>
            <a:r>
              <a:rPr lang="zh-CN" altLang="en-US" dirty="0"/>
              <a:t>调整参数。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CA8BE4-71DF-C05D-135A-2FE6F35B4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37" y="2373545"/>
            <a:ext cx="6191944" cy="1877508"/>
          </a:xfrm>
          <a:prstGeom prst="rect">
            <a:avLst/>
          </a:prstGeom>
        </p:spPr>
      </p:pic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70B6CDC9-7868-8C7D-A893-7CD5FAB0327B}"/>
              </a:ext>
            </a:extLst>
          </p:cNvPr>
          <p:cNvSpPr/>
          <p:nvPr/>
        </p:nvSpPr>
        <p:spPr>
          <a:xfrm>
            <a:off x="2982048" y="3724602"/>
            <a:ext cx="1753454" cy="526451"/>
          </a:xfrm>
          <a:prstGeom prst="wedgeRoundRectCallout">
            <a:avLst>
              <a:gd name="adj1" fmla="val -74354"/>
              <a:gd name="adj2" fmla="val -232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一次奖励模型有监督数据的收集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44655F-467A-F03E-3DCB-4C690D674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751" y="0"/>
            <a:ext cx="261111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23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F4DA9D0-4006-DD2B-FE2D-D805E2CD8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01" y="1782375"/>
            <a:ext cx="4324954" cy="428685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5AAA59-BD61-3711-E26D-1DC08BE5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247" y="297585"/>
            <a:ext cx="8520600" cy="3416400"/>
          </a:xfrm>
        </p:spPr>
        <p:txBody>
          <a:bodyPr/>
          <a:lstStyle/>
          <a:p>
            <a:r>
              <a:rPr lang="zh-CN" altLang="en-US" dirty="0"/>
              <a:t>奖励模型（</a:t>
            </a:r>
            <a:r>
              <a:rPr lang="en-US" altLang="zh-CN" dirty="0"/>
              <a:t>Reward Model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任意语言模型添加一个线性层使得输出转为一个标量，即可作为用于训练的奖励模型。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317B272E-F1B0-BBD0-CCF3-3712DEC48433}"/>
                  </a:ext>
                </a:extLst>
              </p:cNvPr>
              <p:cNvSpPr/>
              <p:nvPr/>
            </p:nvSpPr>
            <p:spPr>
              <a:xfrm>
                <a:off x="2905806" y="2302274"/>
                <a:ext cx="2204249" cy="538952"/>
              </a:xfrm>
              <a:prstGeom prst="wedgeRoundRectCallout">
                <a:avLst>
                  <a:gd name="adj1" fmla="val -14867"/>
                  <a:gd name="adj2" fmla="val -82797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给定问题</a:t>
                </a:r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100" dirty="0"/>
                  <a:t>，针对两个不同的输出</a:t>
                </a:r>
                <a14:m>
                  <m:oMath xmlns:m="http://schemas.openxmlformats.org/officeDocument/2006/math">
                    <m:r>
                      <a:rPr lang="en-US" altLang="zh-CN" sz="11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100" i="1">
                        <a:latin typeface="Cambria Math" panose="02040503050406030204" pitchFamily="18" charset="0"/>
                      </a:rPr>
                      <m:t>高质量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100" i="1">
                        <a:latin typeface="Cambria Math" panose="02040503050406030204" pitchFamily="18" charset="0"/>
                      </a:rPr>
                      <m:t>低质量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)}</m:t>
                    </m:r>
                    <m:r>
                      <a:rPr lang="zh-CN" altLang="en-US" sz="11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zh-CN" altLang="en-US" sz="1100" i="1">
                        <a:latin typeface="Cambria Math" panose="02040503050406030204" pitchFamily="18" charset="0"/>
                      </a:rPr>
                      <m:t>给</m:t>
                    </m:r>
                    <m:r>
                      <a:rPr lang="zh-CN" altLang="en-US" sz="1100" i="1" smtClean="0">
                        <a:latin typeface="Cambria Math" panose="02040503050406030204" pitchFamily="18" charset="0"/>
                      </a:rPr>
                      <m:t>出</m:t>
                    </m:r>
                  </m:oMath>
                </a14:m>
                <a:r>
                  <a:rPr lang="zh-CN" altLang="en-US" sz="1100" dirty="0"/>
                  <a:t>的分数差</a:t>
                </a:r>
              </a:p>
            </p:txBody>
          </p:sp>
        </mc:Choice>
        <mc:Fallback xmlns="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317B272E-F1B0-BBD0-CCF3-3712DEC484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806" y="2302274"/>
                <a:ext cx="2204249" cy="538952"/>
              </a:xfrm>
              <a:prstGeom prst="wedgeRoundRectCallout">
                <a:avLst>
                  <a:gd name="adj1" fmla="val -14867"/>
                  <a:gd name="adj2" fmla="val -82797"/>
                  <a:gd name="adj3" fmla="val 16667"/>
                </a:avLst>
              </a:prstGeom>
              <a:blipFill>
                <a:blip r:embed="rId3"/>
                <a:stretch>
                  <a:fillRect b="-7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99C73856-FD24-215F-C754-0BD10F3D2880}"/>
              </a:ext>
            </a:extLst>
          </p:cNvPr>
          <p:cNvSpPr/>
          <p:nvPr/>
        </p:nvSpPr>
        <p:spPr>
          <a:xfrm>
            <a:off x="2754415" y="1355221"/>
            <a:ext cx="1951426" cy="359779"/>
          </a:xfrm>
          <a:prstGeom prst="wedgeRoundRectCallout">
            <a:avLst>
              <a:gd name="adj1" fmla="val -36174"/>
              <a:gd name="adj2" fmla="val 8066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将该分数差映射到</a:t>
            </a:r>
            <a:r>
              <a:rPr lang="en-US" altLang="zh-CN" sz="1100" dirty="0"/>
              <a:t>0-1</a:t>
            </a:r>
            <a:r>
              <a:rPr lang="zh-CN" altLang="en-US" sz="1100" dirty="0"/>
              <a:t>之间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5DE5A9B-EE49-E0EA-4C83-7A7D19106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26" y="3008383"/>
            <a:ext cx="3177029" cy="2039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话气泡: 圆角矩形 11">
                <a:extLst>
                  <a:ext uri="{FF2B5EF4-FFF2-40B4-BE49-F238E27FC236}">
                    <a16:creationId xmlns:a16="http://schemas.microsoft.com/office/drawing/2014/main" id="{004FCB84-2D52-EEFB-80C9-040529D14F72}"/>
                  </a:ext>
                </a:extLst>
              </p:cNvPr>
              <p:cNvSpPr/>
              <p:nvPr/>
            </p:nvSpPr>
            <p:spPr>
              <a:xfrm>
                <a:off x="586501" y="2302274"/>
                <a:ext cx="1398850" cy="538952"/>
              </a:xfrm>
              <a:prstGeom prst="wedgeRoundRectCallout">
                <a:avLst>
                  <a:gd name="adj1" fmla="val 32153"/>
                  <a:gd name="adj2" fmla="val -90662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对从总体样本</a:t>
                </a:r>
                <a14:m>
                  <m:oMath xmlns:m="http://schemas.openxmlformats.org/officeDocument/2006/math">
                    <m:r>
                      <a:rPr lang="en-US" altLang="zh-CN" sz="11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1100" dirty="0"/>
                  <a:t>中采样的数据求期望</a:t>
                </a:r>
              </a:p>
            </p:txBody>
          </p:sp>
        </mc:Choice>
        <mc:Fallback xmlns="">
          <p:sp>
            <p:nvSpPr>
              <p:cNvPr id="12" name="对话气泡: 圆角矩形 11">
                <a:extLst>
                  <a:ext uri="{FF2B5EF4-FFF2-40B4-BE49-F238E27FC236}">
                    <a16:creationId xmlns:a16="http://schemas.microsoft.com/office/drawing/2014/main" id="{004FCB84-2D52-EEFB-80C9-040529D14F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1" y="2302274"/>
                <a:ext cx="1398850" cy="538952"/>
              </a:xfrm>
              <a:prstGeom prst="wedgeRoundRectCallout">
                <a:avLst>
                  <a:gd name="adj1" fmla="val 32153"/>
                  <a:gd name="adj2" fmla="val -90662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5E680541-B459-E425-3A9C-054E2504E46D}"/>
              </a:ext>
            </a:extLst>
          </p:cNvPr>
          <p:cNvSpPr/>
          <p:nvPr/>
        </p:nvSpPr>
        <p:spPr>
          <a:xfrm>
            <a:off x="2054990" y="2302274"/>
            <a:ext cx="778148" cy="538952"/>
          </a:xfrm>
          <a:prstGeom prst="wedgeRoundRectCallout">
            <a:avLst>
              <a:gd name="adj1" fmla="val 32153"/>
              <a:gd name="adj2" fmla="val -9066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对映射后的差值取</a:t>
            </a:r>
            <a:r>
              <a:rPr lang="en-US" altLang="zh-CN" sz="1100" dirty="0"/>
              <a:t>-log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4C7B52-A57A-5FF1-1BC9-F0C91D8A442F}"/>
              </a:ext>
            </a:extLst>
          </p:cNvPr>
          <p:cNvSpPr txBox="1"/>
          <p:nvPr/>
        </p:nvSpPr>
        <p:spPr>
          <a:xfrm>
            <a:off x="404832" y="1795002"/>
            <a:ext cx="478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Min</a:t>
            </a:r>
            <a:endParaRPr lang="zh-CN" alt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话气泡: 圆角矩形 15">
                <a:extLst>
                  <a:ext uri="{FF2B5EF4-FFF2-40B4-BE49-F238E27FC236}">
                    <a16:creationId xmlns:a16="http://schemas.microsoft.com/office/drawing/2014/main" id="{F59BD1E0-1157-FFFE-549E-E1EC312F6922}"/>
                  </a:ext>
                </a:extLst>
              </p:cNvPr>
              <p:cNvSpPr/>
              <p:nvPr/>
            </p:nvSpPr>
            <p:spPr>
              <a:xfrm>
                <a:off x="352153" y="1355220"/>
                <a:ext cx="2204249" cy="420841"/>
              </a:xfrm>
              <a:prstGeom prst="wedgeRoundRectCallout">
                <a:avLst>
                  <a:gd name="adj1" fmla="val -32449"/>
                  <a:gd name="adj2" fmla="val 62148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最小化损失</a:t>
                </a:r>
                <a14:m>
                  <m:oMath xmlns:m="http://schemas.openxmlformats.org/officeDocument/2006/math">
                    <m:r>
                      <a:rPr lang="en-US" altLang="zh-CN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altLang="zh-CN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100" dirty="0"/>
                  <a:t>，等价于要求扩大差值</a:t>
                </a:r>
              </a:p>
            </p:txBody>
          </p:sp>
        </mc:Choice>
        <mc:Fallback xmlns="">
          <p:sp>
            <p:nvSpPr>
              <p:cNvPr id="16" name="对话气泡: 圆角矩形 15">
                <a:extLst>
                  <a:ext uri="{FF2B5EF4-FFF2-40B4-BE49-F238E27FC236}">
                    <a16:creationId xmlns:a16="http://schemas.microsoft.com/office/drawing/2014/main" id="{F59BD1E0-1157-FFFE-549E-E1EC312F69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53" y="1355220"/>
                <a:ext cx="2204249" cy="420841"/>
              </a:xfrm>
              <a:prstGeom prst="wedgeRoundRectCallout">
                <a:avLst>
                  <a:gd name="adj1" fmla="val -32449"/>
                  <a:gd name="adj2" fmla="val 62148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90E68A46-17DE-9344-4FEC-6C01EDF15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1572" y="937617"/>
            <a:ext cx="2795927" cy="414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82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1E4094AC-9DE0-B487-DA18-5C88335CA5A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1144" y="244130"/>
                <a:ext cx="5332146" cy="3416400"/>
              </a:xfrm>
            </p:spPr>
            <p:txBody>
              <a:bodyPr/>
              <a:lstStyle/>
              <a:p>
                <a:r>
                  <a:rPr lang="zh-CN" altLang="en-US" dirty="0"/>
                  <a:t>近端策略优化（</a:t>
                </a:r>
                <a:r>
                  <a:rPr lang="en-US" altLang="zh-CN" dirty="0"/>
                  <a:t>Proximal Policy Optimization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给定语言模型输出的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，最大化奖励模型的输出分数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，同时，保证当前语言模型的参数跟其最初参数相比，变化尽量小（参数变化通过给定同样输入，看输出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的分布），即：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𝑅𝐿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𝑆𝐹𝑇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KL</a:t>
                </a:r>
                <a:r>
                  <a:rPr lang="zh-CN" altLang="en-US" dirty="0"/>
                  <a:t>散度：分子分母上两个分布越相近，其值越小，当二者完全相同时，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散度值为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1E4094AC-9DE0-B487-DA18-5C88335CA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144" y="244130"/>
                <a:ext cx="5332146" cy="3416400"/>
              </a:xfrm>
              <a:blipFill>
                <a:blip r:embed="rId2"/>
                <a:stretch>
                  <a:fillRect r="-2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47719CC-957F-191F-A6ED-8BE0D9B94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851" y="2372145"/>
            <a:ext cx="3124636" cy="58110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798A9A7-35C2-A44A-A6F7-891A2CEBE441}"/>
              </a:ext>
            </a:extLst>
          </p:cNvPr>
          <p:cNvSpPr txBox="1"/>
          <p:nvPr/>
        </p:nvSpPr>
        <p:spPr>
          <a:xfrm>
            <a:off x="1101441" y="2508809"/>
            <a:ext cx="581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Max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595D94-12B2-CEF6-4C5F-2335A6C67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378" y="0"/>
            <a:ext cx="2742753" cy="5143500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CEC391B4-B8E2-D328-89C6-820E4B87FB43}"/>
              </a:ext>
            </a:extLst>
          </p:cNvPr>
          <p:cNvSpPr/>
          <p:nvPr/>
        </p:nvSpPr>
        <p:spPr>
          <a:xfrm>
            <a:off x="6513052" y="2953251"/>
            <a:ext cx="884132" cy="496562"/>
          </a:xfrm>
          <a:prstGeom prst="wedgeRoundRectCallout">
            <a:avLst>
              <a:gd name="adj1" fmla="val 55193"/>
              <a:gd name="adj2" fmla="val 11128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奖励模型参数固定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FFBB13-6B63-864F-D252-BC52F344C770}"/>
              </a:ext>
            </a:extLst>
          </p:cNvPr>
          <p:cNvSpPr txBox="1"/>
          <p:nvPr/>
        </p:nvSpPr>
        <p:spPr>
          <a:xfrm>
            <a:off x="251144" y="3146146"/>
            <a:ext cx="51927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Stiennon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N, Ouyang L, Wu J, et al. Learning to summarize with human feedback[J]. Advances in neural information processing systems, 2020, 33: 3008-3021.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（引用：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3583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）首次将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RLHF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思想引入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LLM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训练过程</a:t>
            </a:r>
            <a:endParaRPr lang="en-US" altLang="zh-C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Ouyang L, Wu J, Jiang X, et al. Training language models to follow instructions with human feedback[J]. Advances in neural information processing systems, 2022, 35: 27730-27744.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（引用：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25469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）基于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提出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InstructGPT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6354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Process</a:t>
            </a:r>
            <a:endParaRPr dirty="0"/>
          </a:p>
        </p:txBody>
      </p:sp>
      <p:sp>
        <p:nvSpPr>
          <p:cNvPr id="254" name="Google Shape;254;p30"/>
          <p:cNvSpPr txBox="1">
            <a:spLocks noGrp="1"/>
          </p:cNvSpPr>
          <p:nvPr>
            <p:ph type="body" idx="1"/>
          </p:nvPr>
        </p:nvSpPr>
        <p:spPr>
          <a:xfrm>
            <a:off x="133223" y="1000075"/>
            <a:ext cx="8823051" cy="3775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Reasoning models</a:t>
            </a:r>
            <a:endParaRPr lang="en-US" dirty="0"/>
          </a:p>
          <a:p>
            <a:pPr lvl="1" indent="-342900">
              <a:buSzPts val="1800"/>
              <a:buChar char="●"/>
            </a:pPr>
            <a:r>
              <a:rPr lang="zh-CN" altLang="en-US" dirty="0"/>
              <a:t>相较于普通模型可能直接“猜”出一个答案，推理模型通常指专门设计用于执行复杂逻辑推理、规划、决策或问题求解的模型，如</a:t>
            </a:r>
            <a:r>
              <a:rPr lang="en-US" altLang="zh-CN" dirty="0"/>
              <a:t>DeepSeek-R1</a:t>
            </a:r>
            <a:r>
              <a:rPr lang="zh-CN" altLang="en-US" dirty="0"/>
              <a:t>、</a:t>
            </a:r>
            <a:r>
              <a:rPr lang="en-US" altLang="zh-CN" dirty="0"/>
              <a:t>GPT-5</a:t>
            </a:r>
            <a:r>
              <a:rPr lang="zh-CN" altLang="en-US" dirty="0"/>
              <a:t>、</a:t>
            </a:r>
            <a:r>
              <a:rPr lang="en-US" altLang="zh-CN" dirty="0"/>
              <a:t>Gemini 2.5 Pro</a:t>
            </a:r>
            <a:r>
              <a:rPr lang="zh-CN" altLang="en-US" dirty="0"/>
              <a:t>等。</a:t>
            </a:r>
            <a:endParaRPr dirty="0"/>
          </a:p>
          <a:p>
            <a:pPr lvl="1"/>
            <a:r>
              <a:rPr lang="zh-CN" altLang="en-US" b="1" dirty="0"/>
              <a:t>利用思维链（</a:t>
            </a:r>
            <a:r>
              <a:rPr lang="en-US" b="1" dirty="0"/>
              <a:t>Chain-of-Thought）</a:t>
            </a:r>
            <a:r>
              <a:rPr lang="zh-CN" altLang="en-US" b="1" dirty="0"/>
              <a:t>显式地进行模型训练</a:t>
            </a:r>
            <a:r>
              <a:rPr lang="zh-CN" altLang="en-US" dirty="0"/>
              <a:t>，是基于</a:t>
            </a:r>
            <a:r>
              <a:rPr lang="en-US" altLang="zh-CN" dirty="0"/>
              <a:t>LLM</a:t>
            </a:r>
            <a:r>
              <a:rPr lang="zh-CN" altLang="en-US" dirty="0"/>
              <a:t>的一系列研究进展得到的：从训练（</a:t>
            </a:r>
            <a:r>
              <a:rPr lang="en-US" altLang="zh-CN" dirty="0"/>
              <a:t>Fine-tuning</a:t>
            </a:r>
            <a:r>
              <a:rPr lang="zh-CN" altLang="en-US" dirty="0"/>
              <a:t>） 的早期尝试，逐渐过渡到更高效的提示技术（如</a:t>
            </a:r>
            <a:r>
              <a:rPr lang="en-US" altLang="zh-CN" dirty="0"/>
              <a:t>Chain-of-Thought</a:t>
            </a:r>
            <a:r>
              <a:rPr lang="zh-CN" altLang="en-US" dirty="0"/>
              <a:t>），最终又回归并深化于训练阶段（基于</a:t>
            </a:r>
            <a:r>
              <a:rPr lang="en-US" altLang="zh-CN" dirty="0" err="1"/>
              <a:t>CoT</a:t>
            </a:r>
            <a:r>
              <a:rPr lang="zh-CN" altLang="en-US" dirty="0"/>
              <a:t>的</a:t>
            </a:r>
            <a:r>
              <a:rPr lang="en-US" altLang="zh-CN" dirty="0"/>
              <a:t>SFT</a:t>
            </a:r>
            <a:r>
              <a:rPr lang="zh-CN" altLang="en-US" dirty="0"/>
              <a:t>、</a:t>
            </a:r>
            <a:r>
              <a:rPr lang="en-US" altLang="zh-CN" dirty="0"/>
              <a:t>RL</a:t>
            </a:r>
            <a:r>
              <a:rPr lang="zh-CN" altLang="en-US" dirty="0"/>
              <a:t>等）。</a:t>
            </a:r>
            <a:endParaRPr lang="en-US" altLang="zh-CN" dirty="0"/>
          </a:p>
          <a:p>
            <a:pPr lvl="1"/>
            <a:r>
              <a:rPr lang="en-US" dirty="0"/>
              <a:t>OpenAI (2021): Training Verifiers to Solve Math Word Problems</a:t>
            </a:r>
            <a:r>
              <a:rPr lang="zh-CN" altLang="en-US" dirty="0"/>
              <a:t>：这项工作首次将“过程监督”（</a:t>
            </a:r>
            <a:r>
              <a:rPr lang="en-US" dirty="0"/>
              <a:t>Process Supervision）</a:t>
            </a:r>
            <a:r>
              <a:rPr lang="zh-CN" altLang="en-US" dirty="0"/>
              <a:t>引入模型训练。不同于只关注最终答案的“结果监督”，它让模型学习解题的每一步，并通过验证器（</a:t>
            </a:r>
            <a:r>
              <a:rPr lang="en-US" dirty="0"/>
              <a:t>Verifier） </a:t>
            </a:r>
            <a:r>
              <a:rPr lang="zh-CN" altLang="en-US" dirty="0"/>
              <a:t>来评估每个中间步骤的正确性，使其推理过程更可控。目前，使用由强大模型（如 </a:t>
            </a:r>
            <a:r>
              <a:rPr lang="en-US" altLang="zh-CN" dirty="0"/>
              <a:t>GPT-5</a:t>
            </a:r>
            <a:r>
              <a:rPr lang="zh-CN" altLang="en-US" dirty="0"/>
              <a:t>）或人工生成的高质量 </a:t>
            </a:r>
            <a:r>
              <a:rPr lang="en-US" altLang="zh-CN" dirty="0" err="1"/>
              <a:t>CoT</a:t>
            </a:r>
            <a:r>
              <a:rPr lang="en-US" altLang="zh-CN" dirty="0"/>
              <a:t> </a:t>
            </a:r>
            <a:r>
              <a:rPr lang="zh-CN" altLang="en-US" dirty="0"/>
              <a:t>数据，对基础模型进行监督微调（</a:t>
            </a:r>
            <a:r>
              <a:rPr lang="en-US" altLang="zh-CN" dirty="0"/>
              <a:t>SFT</a:t>
            </a:r>
            <a:r>
              <a:rPr lang="zh-CN" altLang="en-US" dirty="0"/>
              <a:t>），已成为构建顶级推理模型（如 </a:t>
            </a:r>
            <a:r>
              <a:rPr lang="en-US" altLang="zh-CN" dirty="0"/>
              <a:t>DeepSeek-R1/V3</a:t>
            </a:r>
            <a:r>
              <a:rPr lang="zh-CN" altLang="en-US" dirty="0"/>
              <a:t>）的通用范式。</a:t>
            </a:r>
          </a:p>
        </p:txBody>
      </p:sp>
      <p:sp>
        <p:nvSpPr>
          <p:cNvPr id="255" name="Google Shape;255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7088377" y="4472973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>
            <a:spLocks noGrp="1"/>
          </p:cNvSpPr>
          <p:nvPr>
            <p:ph type="body" idx="1"/>
          </p:nvPr>
        </p:nvSpPr>
        <p:spPr>
          <a:xfrm>
            <a:off x="238983" y="118350"/>
            <a:ext cx="8520600" cy="43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1"/>
            <a:r>
              <a:rPr lang="zh-CN" altLang="en-US" dirty="0"/>
              <a:t>工具集成</a:t>
            </a:r>
          </a:p>
          <a:p>
            <a:pPr lvl="2">
              <a:buChar char="○"/>
            </a:pPr>
            <a:r>
              <a:rPr lang="en-US" altLang="zh-CN" dirty="0" err="1"/>
              <a:t>Toolformer</a:t>
            </a:r>
            <a:r>
              <a:rPr lang="zh-CN" altLang="en-US" dirty="0"/>
              <a:t>（</a:t>
            </a:r>
            <a:r>
              <a:rPr lang="en-US" altLang="zh-CN" dirty="0"/>
              <a:t>Meta AI / </a:t>
            </a:r>
            <a:r>
              <a:rPr lang="en-US" altLang="zh-CN" dirty="0" err="1"/>
              <a:t>NeurIPS</a:t>
            </a:r>
            <a:r>
              <a:rPr lang="en-US" altLang="zh-CN" dirty="0"/>
              <a:t> 2023</a:t>
            </a:r>
            <a:r>
              <a:rPr lang="zh-CN" altLang="en-US" dirty="0"/>
              <a:t>）：开创性的工作。一种能通过自监督学习使用外部工具的语言模型（基于</a:t>
            </a:r>
            <a:r>
              <a:rPr lang="en-US" altLang="zh-CN" dirty="0"/>
              <a:t>67</a:t>
            </a:r>
            <a:r>
              <a:rPr lang="zh-CN" altLang="en-US" dirty="0"/>
              <a:t>亿参数</a:t>
            </a:r>
            <a:r>
              <a:rPr lang="en-US" altLang="zh-CN" dirty="0"/>
              <a:t>GPT-J</a:t>
            </a:r>
            <a:r>
              <a:rPr lang="zh-CN" altLang="en-US" dirty="0"/>
              <a:t>微调得到）。该模型可自主决定调用哪些</a:t>
            </a:r>
            <a:r>
              <a:rPr lang="en-US" altLang="zh-CN" dirty="0"/>
              <a:t>API</a:t>
            </a:r>
            <a:r>
              <a:rPr lang="zh-CN" altLang="en-US" dirty="0"/>
              <a:t>、何时调用、传递什么参数以及如何整合结果到后续解码中。集成的工具包括计算器、</a:t>
            </a:r>
            <a:r>
              <a:rPr lang="en-US" altLang="zh-CN" dirty="0"/>
              <a:t>QA</a:t>
            </a:r>
            <a:r>
              <a:rPr lang="zh-CN" altLang="en-US" dirty="0"/>
              <a:t>系统、搜索引擎、机器翻译和日历等。</a:t>
            </a:r>
            <a:endParaRPr lang="en-US" altLang="zh-CN" dirty="0"/>
          </a:p>
          <a:p>
            <a:pPr lvl="2">
              <a:buChar char="○"/>
            </a:pPr>
            <a:r>
              <a:rPr lang="en-US" altLang="zh-CN" dirty="0" err="1"/>
              <a:t>AgentGym</a:t>
            </a:r>
            <a:r>
              <a:rPr lang="en-US" altLang="zh-CN" dirty="0"/>
              <a:t>-RL: Training LLM Agents for Long-Horizon Decision Making through Multi-Turn Reinforcement Learning (ByteDance, 2025)</a:t>
            </a:r>
            <a:r>
              <a:rPr lang="zh-CN" altLang="en-US" dirty="0"/>
              <a:t>：构造了多样化</a:t>
            </a:r>
            <a:r>
              <a:rPr lang="en-US" altLang="zh-CN" dirty="0"/>
              <a:t>RL</a:t>
            </a:r>
            <a:r>
              <a:rPr lang="zh-CN" altLang="en-US" dirty="0"/>
              <a:t>场景，如：网页操作、信息检索、软件开发、具身智能、科学发现、游戏等。每个场景涵盖不同的数据集以及相应的测试环境，模型在这里可以安全地调用工具、获得反馈、承担后果（比如代码报错），而不至于破坏真实世界。</a:t>
            </a:r>
            <a:endParaRPr lang="en-US" altLang="zh-CN" dirty="0"/>
          </a:p>
          <a:p>
            <a:pPr lvl="1"/>
            <a:r>
              <a:rPr lang="zh-CN" altLang="en-US" dirty="0"/>
              <a:t>推理模型的运作方式：先在给定的思考区生成</a:t>
            </a:r>
            <a:r>
              <a:rPr lang="en-US" altLang="zh-CN" dirty="0" err="1"/>
              <a:t>CoT</a:t>
            </a:r>
            <a:r>
              <a:rPr lang="zh-CN" altLang="en-US" dirty="0"/>
              <a:t>（规划、工具调用等），然后系统执行工具并返回结果（</a:t>
            </a:r>
            <a:r>
              <a:rPr lang="en-US" altLang="zh-CN" dirty="0"/>
              <a:t>Optional</a:t>
            </a:r>
            <a:r>
              <a:rPr lang="zh-CN" altLang="en-US" dirty="0"/>
              <a:t>），最终在输出区基于</a:t>
            </a:r>
            <a:r>
              <a:rPr lang="en-US" altLang="zh-CN" dirty="0" err="1"/>
              <a:t>CoT</a:t>
            </a:r>
            <a:r>
              <a:rPr lang="zh-CN" altLang="en-US" dirty="0"/>
              <a:t>生成答案。</a:t>
            </a:r>
            <a:endParaRPr lang="en-US" altLang="zh-CN" dirty="0"/>
          </a:p>
          <a:p>
            <a:pPr lvl="1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月之前，大多数</a:t>
            </a:r>
            <a:r>
              <a:rPr lang="en-US" altLang="zh-CN" dirty="0"/>
              <a:t>LLM</a:t>
            </a:r>
            <a:r>
              <a:rPr lang="zh-CN" altLang="en-US" dirty="0"/>
              <a:t>应用的后台涵盖一个推理模型，一个非推理模型。用户通过开关“深度思考”等选项，后台相应切换不同模型。</a:t>
            </a:r>
            <a:endParaRPr lang="en-US" altLang="zh-CN" dirty="0"/>
          </a:p>
          <a:p>
            <a:pPr lvl="1"/>
            <a:r>
              <a:rPr lang="zh-CN" altLang="en-US" dirty="0"/>
              <a:t>最新的</a:t>
            </a:r>
            <a:r>
              <a:rPr lang="en-US" altLang="zh-CN" dirty="0"/>
              <a:t>DeepSeek</a:t>
            </a:r>
            <a:r>
              <a:rPr lang="zh-CN" altLang="en-US" dirty="0"/>
              <a:t>应用基于</a:t>
            </a:r>
            <a:r>
              <a:rPr lang="en-US" altLang="zh-CN" dirty="0"/>
              <a:t>DeepSeekV3.1</a:t>
            </a:r>
            <a:r>
              <a:rPr lang="zh-CN" altLang="en-US" dirty="0"/>
              <a:t>构建，该模型为混合推理模型，同时支持思考与非思考两种模式，用户仍然通过手动开关“深度思考”来启动或关闭对推理模型的调用。但后台进需要一个模型来支持推理。</a:t>
            </a:r>
            <a:endParaRPr lang="en-US" altLang="zh-CN" dirty="0"/>
          </a:p>
        </p:txBody>
      </p:sp>
      <p:sp>
        <p:nvSpPr>
          <p:cNvPr id="264" name="Google Shape;264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5283C0-6BB5-D339-2DEB-5B1860CB53F3}"/>
              </a:ext>
            </a:extLst>
          </p:cNvPr>
          <p:cNvSpPr txBox="1"/>
          <p:nvPr/>
        </p:nvSpPr>
        <p:spPr>
          <a:xfrm>
            <a:off x="1" y="4374059"/>
            <a:ext cx="91570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Schick T, Dwivedi-Yu J,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Dessì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R, et al.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Toolformer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Language models can teach themselves to use tools[J]. Advances in neural information processing systems, 2023, 36: 68539-68551.</a:t>
            </a:r>
          </a:p>
          <a:p>
            <a:r>
              <a:rPr lang="en-US" altLang="zh-CN" sz="1100" dirty="0"/>
              <a:t>Xi Z, Huang J, Liao C, et al. </a:t>
            </a:r>
            <a:r>
              <a:rPr lang="en-US" altLang="zh-CN" sz="1100" dirty="0" err="1"/>
              <a:t>Agentgym-rl</a:t>
            </a:r>
            <a:r>
              <a:rPr lang="en-US" altLang="zh-CN" sz="1100" dirty="0"/>
              <a:t>: Training </a:t>
            </a:r>
            <a:r>
              <a:rPr lang="en-US" altLang="zh-CN" sz="1100" dirty="0" err="1"/>
              <a:t>llm</a:t>
            </a:r>
            <a:r>
              <a:rPr lang="en-US" altLang="zh-CN" sz="1100" dirty="0"/>
              <a:t> agents for long-horizon decision making through multi-turn reinforcement learning[J]. </a:t>
            </a:r>
            <a:r>
              <a:rPr lang="en-US" altLang="zh-CN" sz="1100" dirty="0" err="1"/>
              <a:t>arXiv</a:t>
            </a:r>
            <a:r>
              <a:rPr lang="en-US" altLang="zh-CN" sz="1100" dirty="0"/>
              <a:t> preprint arXiv:2509.08755, 2025.</a:t>
            </a:r>
            <a:endParaRPr lang="zh-CN" alt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3195889" y="1976200"/>
            <a:ext cx="27822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E06EFF759D0F3C662E548EA04D5BF1CCE01E04C0663306FC1C4B5F77630AC959" val="[{&quot;GradientColorId&quot;:&quot;&quot;,&quot;IsFree&quot;:true,&quot;IsGradient&quot;:false,&quot;ImagePath&quot;:&quot;&quot;,&quot;GradientColor&quot;:null,&quot;SimpleColor&quot;:&quot;#A6A6A6&quot;}]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13869</TotalTime>
  <Words>3256</Words>
  <Application>Microsoft Office PowerPoint</Application>
  <PresentationFormat>全屏显示(16:9)</PresentationFormat>
  <Paragraphs>189</Paragraphs>
  <Slides>23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Roboto</vt:lpstr>
      <vt:lpstr>quote-cjk-patch</vt:lpstr>
      <vt:lpstr>Simple Light</vt:lpstr>
      <vt:lpstr>Vibe Coding Principle and Practice</vt:lpstr>
      <vt:lpstr>Introduction and How LLMs are Made</vt:lpstr>
      <vt:lpstr>State of the World: 2026 </vt:lpstr>
      <vt:lpstr>Bad News</vt:lpstr>
      <vt:lpstr>Good News</vt:lpstr>
      <vt:lpstr>Transformer总览</vt:lpstr>
      <vt:lpstr>PowerPoint 演示文稿</vt:lpstr>
      <vt:lpstr>PowerPoint 演示文稿</vt:lpstr>
      <vt:lpstr>Decoder-only LLM 结构</vt:lpstr>
      <vt:lpstr>LLM解码</vt:lpstr>
      <vt:lpstr>PowerPoint 演示文稿</vt:lpstr>
      <vt:lpstr>PowerPoint 演示文稿</vt:lpstr>
      <vt:lpstr>分词策略</vt:lpstr>
      <vt:lpstr>PowerPoint 演示文稿</vt:lpstr>
      <vt:lpstr>Training Process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Training Process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zhen yang</dc:creator>
  <cp:lastModifiedBy>zhen yang</cp:lastModifiedBy>
  <cp:revision>68</cp:revision>
  <dcterms:modified xsi:type="dcterms:W3CDTF">2026-05-23T10:06:21Z</dcterms:modified>
</cp:coreProperties>
</file>